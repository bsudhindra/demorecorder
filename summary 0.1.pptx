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
  </p:notesMasterIdLst>
  <p:sldIdLst>
    <p:sldId id="256" r:id="rId2"/>
    <p:sldId id="257" r:id="rId3"/>
    <p:sldId id="258" r:id="rId4"/>
    <p:sldId id="259" r:id="rId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1"/>
    <p:restoredTop sz="94610"/>
  </p:normalViewPr>
  <p:slideViewPr>
    <p:cSldViewPr snapToGrid="0" snapToObjects="1">
      <p:cViewPr varScale="1">
        <p:scale>
          <a:sx n="102" d="100"/>
          <a:sy n="102" d="100"/>
        </p:scale>
        <p:origin x="192" y="2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717444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Decision slide. Scope as built: balances, instant payments, wires, help/FAQ, service requests; no payment actions. Payments objection is about wires driving calls via four mechanisms; the strongest is the expectation gap. Both sides already agree wire data should not launch first. The ask: approve Phases 0-1 of a help-first gated launch, charter a joint working group in two weeks, and treat wires as an evidence gate at the end of Phase 1.</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Independent evidence: Kumar &amp; Telang 2012, difference-in-differences at a U.S. health insurer; web self-service raised calls 14% overall, cut calls for unambiguous retrievable information 29%, raised calls for ambiguous information 66%. Pre-GenAI and not banking, so directional. Gartner (vendor) 2024: only 14% of issues fully resolved in self-service; top failure is not finding content. Gartner 2026: 74% of B2B GenAI users have used it to complete a task, which is the expectation gap. BofA and DBS figures are company-reported with no control group. The yellow box is where the Payments baseline goes.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scope options were considered. Option 1 defers; Option 2 launches everything as built; Option 3 removes wires entirely, which gives up procedural wire help, the content with the best deflection evidence; Option 4 keeps wire help and non-transaction wire servicing but holds wire data and wire-specific requests, because raising a wire request without the data turns status questions into tickets; Option 5 is Option 4 with help-first positioning, which is the main mitigation for the expectation gap. The three design choices apply regardless of option. The full comparison with the internal data needed to justify each option is in Section 7 of the working document.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Scope: help/FAQ across payments including wire procedures, balances, instant payments, non-transaction servicing. Out until Phase 2: wire transaction data and transaction-specific wire requests, because raising those without the data turns status questions into tickets. Phases: internal 2-4 weeks; client cohort with randomised holdout 8-12 weeks; wires sequenced on evidence. Gates are on cost-weighted total contacts so channel shift into service requests cannot game a calls-only gate. Thresholds X, Y, Z to be agreed with Payments from the baseline. Statistical power must be checked before committing to the pilot length; BofA volumes suggest commercial assistants generate far fewer interactions than consumer ones.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64240" cy="640080"/>
          </a:xfrm>
          <a:prstGeom prst="rect">
            <a:avLst/>
          </a:prstGeom>
          <a:noFill/>
          <a:ln/>
        </p:spPr>
        <p:txBody>
          <a:bodyPr wrap="square" lIns="0" tIns="0" rIns="0" bIns="0" rtlCol="0" anchor="ctr"/>
          <a:lstStyle/>
          <a:p>
            <a:pPr marL="0" indent="0">
              <a:buNone/>
            </a:pPr>
            <a:r>
              <a:rPr lang="en-US" sz="2800" b="1" dirty="0">
                <a:solidFill>
                  <a:srgbClr val="0F2D52"/>
                </a:solidFill>
                <a:latin typeface="Trebuchet MS" pitchFamily="34" charset="0"/>
                <a:ea typeface="Trebuchet MS" pitchFamily="34" charset="-122"/>
                <a:cs typeface="Trebuchet MS" pitchFamily="34" charset="-120"/>
              </a:rPr>
              <a:t>SAFARI customer launch: the decision</a:t>
            </a:r>
            <a:endParaRPr lang="en-US" sz="2800" dirty="0"/>
          </a:p>
        </p:txBody>
      </p:sp>
      <p:sp>
        <p:nvSpPr>
          <p:cNvPr id="3" name="Text 1"/>
          <p:cNvSpPr txBox="1"/>
          <p:nvPr/>
        </p:nvSpPr>
        <p:spPr>
          <a:xfrm>
            <a:off x="548640" y="987552"/>
            <a:ext cx="11064240" cy="365760"/>
          </a:xfrm>
          <a:prstGeom prst="rect">
            <a:avLst/>
          </a:prstGeom>
          <a:noFill/>
          <a:ln/>
        </p:spPr>
        <p:txBody>
          <a:bodyPr wrap="square" lIns="0" tIns="0" rIns="0" bIns="0" rtlCol="0" anchor="ctr"/>
          <a:lstStyle/>
          <a:p>
            <a:pPr marL="0" indent="0">
              <a:buNone/>
            </a:pPr>
            <a:r>
              <a:rPr lang="en-US" sz="1300" dirty="0">
                <a:solidFill>
                  <a:srgbClr val="5A6270"/>
                </a:solidFill>
                <a:latin typeface="Calibri" pitchFamily="34" charset="0"/>
                <a:ea typeface="Calibri" pitchFamily="34" charset="-122"/>
                <a:cs typeface="Calibri" pitchFamily="34" charset="-120"/>
              </a:rPr>
              <a:t>Build complete, governance complete. Payments expects wires to drive service calls. We propose a help-first, gated launch with wire data held back.</a:t>
            </a:r>
            <a:endParaRPr lang="en-US" sz="1300" dirty="0"/>
          </a:p>
        </p:txBody>
      </p:sp>
      <p:sp>
        <p:nvSpPr>
          <p:cNvPr id="4" name="Text 2"/>
          <p:cNvSpPr txBox="1"/>
          <p:nvPr/>
        </p:nvSpPr>
        <p:spPr>
          <a:xfrm>
            <a:off x="548640" y="6419088"/>
            <a:ext cx="10058400" cy="274320"/>
          </a:xfrm>
          <a:prstGeom prst="rect">
            <a:avLst/>
          </a:prstGeom>
          <a:noFill/>
          <a:ln/>
        </p:spPr>
        <p:txBody>
          <a:bodyPr wrap="square" lIns="0" tIns="0" rIns="0" bIns="0" rtlCol="0" anchor="ctr"/>
          <a:lstStyle/>
          <a:p>
            <a:pPr marL="0" indent="0">
              <a:buNone/>
            </a:pPr>
            <a:r>
              <a:rPr lang="en-US" sz="900" dirty="0">
                <a:solidFill>
                  <a:srgbClr val="5A6270"/>
                </a:solidFill>
                <a:latin typeface="Calibri" pitchFamily="34" charset="0"/>
                <a:ea typeface="Calibri" pitchFamily="34" charset="-122"/>
                <a:cs typeface="Calibri" pitchFamily="34" charset="-120"/>
              </a:rPr>
              <a:t>SAFARI customer launch  |  Executive summary  |  Draft for discussion  |  Evidence labelled independent, company-reported or vendor</a:t>
            </a:r>
            <a:endParaRPr lang="en-US" sz="900" dirty="0"/>
          </a:p>
        </p:txBody>
      </p:sp>
      <p:sp>
        <p:nvSpPr>
          <p:cNvPr id="5" name="Text 3"/>
          <p:cNvSpPr txBox="1"/>
          <p:nvPr/>
        </p:nvSpPr>
        <p:spPr>
          <a:xfrm>
            <a:off x="11155680" y="6419088"/>
            <a:ext cx="502920" cy="274320"/>
          </a:xfrm>
          <a:prstGeom prst="rect">
            <a:avLst/>
          </a:prstGeom>
          <a:noFill/>
          <a:ln/>
        </p:spPr>
        <p:txBody>
          <a:bodyPr wrap="square" lIns="0" tIns="0" rIns="0" bIns="0" rtlCol="0" anchor="ctr"/>
          <a:lstStyle/>
          <a:p>
            <a:pPr marL="0" indent="0" algn="r">
              <a:buNone/>
            </a:pPr>
            <a:r>
              <a:rPr lang="en-US" sz="900" dirty="0">
                <a:solidFill>
                  <a:srgbClr val="5A6270"/>
                </a:solidFill>
                <a:latin typeface="Calibri" pitchFamily="34" charset="0"/>
                <a:ea typeface="Calibri" pitchFamily="34" charset="-122"/>
                <a:cs typeface="Calibri" pitchFamily="34" charset="-120"/>
              </a:rPr>
              <a:t>1 / 4</a:t>
            </a:r>
            <a:endParaRPr lang="en-US" sz="900" dirty="0"/>
          </a:p>
        </p:txBody>
      </p:sp>
      <p:sp>
        <p:nvSpPr>
          <p:cNvPr id="6" name="Text 4"/>
          <p:cNvSpPr txBox="1"/>
          <p:nvPr/>
        </p:nvSpPr>
        <p:spPr>
          <a:xfrm>
            <a:off x="548640" y="1463040"/>
            <a:ext cx="6675120" cy="320040"/>
          </a:xfrm>
          <a:prstGeom prst="rect">
            <a:avLst/>
          </a:prstGeom>
          <a:noFill/>
          <a:ln/>
        </p:spPr>
        <p:txBody>
          <a:bodyPr wrap="square" lIns="0" tIns="0" rIns="0" bIns="0" rtlCol="0" anchor="ctr"/>
          <a:lstStyle/>
          <a:p>
            <a:pPr marL="0" indent="0">
              <a:buNone/>
            </a:pPr>
            <a:r>
              <a:rPr lang="en-US" sz="1500" b="1" dirty="0">
                <a:solidFill>
                  <a:srgbClr val="0F2D52"/>
                </a:solidFill>
                <a:latin typeface="Trebuchet MS" pitchFamily="34" charset="0"/>
                <a:ea typeface="Trebuchet MS" pitchFamily="34" charset="-122"/>
                <a:cs typeface="Trebuchet MS" pitchFamily="34" charset="-120"/>
              </a:rPr>
              <a:t>Where we are</a:t>
            </a:r>
            <a:endParaRPr lang="en-US" sz="1500" dirty="0"/>
          </a:p>
        </p:txBody>
      </p:sp>
      <p:sp>
        <p:nvSpPr>
          <p:cNvPr id="7" name="Shape 5"/>
          <p:cNvSpPr/>
          <p:nvPr/>
        </p:nvSpPr>
        <p:spPr>
          <a:xfrm>
            <a:off x="548640" y="1938528"/>
            <a:ext cx="457200" cy="457200"/>
          </a:xfrm>
          <a:prstGeom prst="ellipse">
            <a:avLst/>
          </a:prstGeom>
          <a:solidFill>
            <a:srgbClr val="E8EEF6"/>
          </a:solidFill>
          <a:ln w="12700">
            <a:solidFill>
              <a:srgbClr val="E8EEF6"/>
            </a:solidFill>
            <a:prstDash val="solid"/>
          </a:ln>
        </p:spPr>
        <p:txBody>
          <a:bodyPr/>
          <a:lstStyle/>
          <a:p>
            <a:endParaRPr lang="en-US"/>
          </a:p>
        </p:txBody>
      </p:sp>
      <p:pic>
        <p:nvPicPr>
          <p:cNvPr id="8" name="Image 0" descr="preencoded.png"/>
          <p:cNvPicPr>
            <a:picLocks noChangeAspect="1"/>
          </p:cNvPicPr>
          <p:nvPr/>
        </p:nvPicPr>
        <p:blipFill>
          <a:blip r:embed="rId3"/>
          <a:stretch>
            <a:fillRect/>
          </a:stretch>
        </p:blipFill>
        <p:spPr>
          <a:xfrm>
            <a:off x="658368" y="2048256"/>
            <a:ext cx="237744" cy="237744"/>
          </a:xfrm>
          <a:prstGeom prst="rect">
            <a:avLst/>
          </a:prstGeom>
        </p:spPr>
      </p:pic>
      <p:sp>
        <p:nvSpPr>
          <p:cNvPr id="9" name="Text 6"/>
          <p:cNvSpPr txBox="1"/>
          <p:nvPr/>
        </p:nvSpPr>
        <p:spPr>
          <a:xfrm>
            <a:off x="1188720" y="1920240"/>
            <a:ext cx="6035040" cy="292608"/>
          </a:xfrm>
          <a:prstGeom prst="rect">
            <a:avLst/>
          </a:prstGeom>
          <a:noFill/>
          <a:ln/>
        </p:spPr>
        <p:txBody>
          <a:bodyPr wrap="square" lIns="0" tIns="0" rIns="0" bIns="0" rtlCol="0" anchor="ctr"/>
          <a:lstStyle/>
          <a:p>
            <a:pPr marL="0" indent="0">
              <a:buNone/>
            </a:pPr>
            <a:r>
              <a:rPr lang="en-US" sz="1350" b="1" dirty="0">
                <a:solidFill>
                  <a:srgbClr val="0F2D52"/>
                </a:solidFill>
                <a:latin typeface="Trebuchet MS" pitchFamily="34" charset="0"/>
                <a:ea typeface="Trebuchet MS" pitchFamily="34" charset="-122"/>
                <a:cs typeface="Trebuchet MS" pitchFamily="34" charset="-120"/>
              </a:rPr>
              <a:t>Built and governed</a:t>
            </a:r>
            <a:endParaRPr lang="en-US" sz="1350" dirty="0"/>
          </a:p>
        </p:txBody>
      </p:sp>
      <p:sp>
        <p:nvSpPr>
          <p:cNvPr id="10" name="Text 7"/>
          <p:cNvSpPr txBox="1"/>
          <p:nvPr/>
        </p:nvSpPr>
        <p:spPr>
          <a:xfrm>
            <a:off x="1188720" y="2231136"/>
            <a:ext cx="6035040" cy="868680"/>
          </a:xfrm>
          <a:prstGeom prst="rect">
            <a:avLst/>
          </a:prstGeom>
          <a:noFill/>
          <a:ln/>
        </p:spPr>
        <p:txBody>
          <a:bodyPr wrap="square" lIns="0" tIns="0" rIns="0" bIns="0" rtlCol="0" anchor="t"/>
          <a:lstStyle/>
          <a:p>
            <a:pPr marL="0" indent="0">
              <a:buNone/>
            </a:pPr>
            <a:r>
              <a:rPr lang="en-US" sz="1200" dirty="0">
                <a:solidFill>
                  <a:srgbClr val="2B3440"/>
                </a:solidFill>
                <a:latin typeface="Calibri" pitchFamily="34" charset="0"/>
                <a:ea typeface="Calibri" pitchFamily="34" charset="-122"/>
                <a:cs typeface="Calibri" pitchFamily="34" charset="-120"/>
              </a:rPr>
              <a:t>Cash balances, instant payments, wires, help/FAQ over user guides, and service requests. Retrieval and summarisation only; no payment actions. All internal governance checks complete.</a:t>
            </a:r>
            <a:endParaRPr lang="en-US" sz="1200" dirty="0"/>
          </a:p>
        </p:txBody>
      </p:sp>
      <p:sp>
        <p:nvSpPr>
          <p:cNvPr id="11" name="Shape 8"/>
          <p:cNvSpPr/>
          <p:nvPr/>
        </p:nvSpPr>
        <p:spPr>
          <a:xfrm>
            <a:off x="548640" y="3236976"/>
            <a:ext cx="457200" cy="457200"/>
          </a:xfrm>
          <a:prstGeom prst="ellipse">
            <a:avLst/>
          </a:prstGeom>
          <a:solidFill>
            <a:srgbClr val="E8EEF6"/>
          </a:solidFill>
          <a:ln w="12700">
            <a:solidFill>
              <a:srgbClr val="E8EEF6"/>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658368" y="3346704"/>
            <a:ext cx="237744" cy="237744"/>
          </a:xfrm>
          <a:prstGeom prst="rect">
            <a:avLst/>
          </a:prstGeom>
        </p:spPr>
      </p:pic>
      <p:sp>
        <p:nvSpPr>
          <p:cNvPr id="13" name="Text 9"/>
          <p:cNvSpPr txBox="1"/>
          <p:nvPr/>
        </p:nvSpPr>
        <p:spPr>
          <a:xfrm>
            <a:off x="1188720" y="3218688"/>
            <a:ext cx="6035040" cy="292608"/>
          </a:xfrm>
          <a:prstGeom prst="rect">
            <a:avLst/>
          </a:prstGeom>
          <a:noFill/>
          <a:ln/>
        </p:spPr>
        <p:txBody>
          <a:bodyPr wrap="square" lIns="0" tIns="0" rIns="0" bIns="0" rtlCol="0" anchor="ctr"/>
          <a:lstStyle/>
          <a:p>
            <a:pPr marL="0" indent="0">
              <a:buNone/>
            </a:pPr>
            <a:r>
              <a:rPr lang="en-US" sz="1350" b="1" dirty="0">
                <a:solidFill>
                  <a:srgbClr val="0F2D52"/>
                </a:solidFill>
                <a:latin typeface="Trebuchet MS" pitchFamily="34" charset="0"/>
                <a:ea typeface="Trebuchet MS" pitchFamily="34" charset="-122"/>
                <a:cs typeface="Trebuchet MS" pitchFamily="34" charset="-120"/>
              </a:rPr>
              <a:t>Payments’ concern: wires will drive calls</a:t>
            </a:r>
            <a:endParaRPr lang="en-US" sz="1350" dirty="0"/>
          </a:p>
        </p:txBody>
      </p:sp>
      <p:sp>
        <p:nvSpPr>
          <p:cNvPr id="14" name="Text 10"/>
          <p:cNvSpPr txBox="1"/>
          <p:nvPr/>
        </p:nvSpPr>
        <p:spPr>
          <a:xfrm>
            <a:off x="1188720" y="3529584"/>
            <a:ext cx="6035040" cy="868680"/>
          </a:xfrm>
          <a:prstGeom prst="rect">
            <a:avLst/>
          </a:prstGeom>
          <a:noFill/>
          <a:ln/>
        </p:spPr>
        <p:txBody>
          <a:bodyPr wrap="square" lIns="0" tIns="0" rIns="0" bIns="0" rtlCol="0" anchor="t"/>
          <a:lstStyle/>
          <a:p>
            <a:pPr marL="0" indent="0">
              <a:buNone/>
            </a:pPr>
            <a:r>
              <a:rPr lang="en-US" sz="1200" dirty="0">
                <a:solidFill>
                  <a:srgbClr val="2B3440"/>
                </a:solidFill>
                <a:latin typeface="Calibri" pitchFamily="34" charset="0"/>
                <a:ea typeface="Calibri" pitchFamily="34" charset="-122"/>
                <a:cs typeface="Calibri" pitchFamily="34" charset="-120"/>
              </a:rPr>
              <a:t>Four routes: unanswerable questions become calls; exception visibility prompts inquiries; a new channel adds demand; clients expect more than the web and call when they hit the limits.</a:t>
            </a:r>
            <a:endParaRPr lang="en-US" sz="1200" dirty="0"/>
          </a:p>
        </p:txBody>
      </p:sp>
      <p:sp>
        <p:nvSpPr>
          <p:cNvPr id="15" name="Shape 11"/>
          <p:cNvSpPr/>
          <p:nvPr/>
        </p:nvSpPr>
        <p:spPr>
          <a:xfrm>
            <a:off x="548640" y="4535424"/>
            <a:ext cx="457200" cy="457200"/>
          </a:xfrm>
          <a:prstGeom prst="ellipse">
            <a:avLst/>
          </a:prstGeom>
          <a:solidFill>
            <a:srgbClr val="E8EEF6"/>
          </a:solidFill>
          <a:ln w="12700">
            <a:solidFill>
              <a:srgbClr val="E8EEF6"/>
            </a:solidFill>
            <a:prstDash val="solid"/>
          </a:ln>
        </p:spPr>
        <p:txBody>
          <a:bodyPr/>
          <a:lstStyle/>
          <a:p>
            <a:endParaRPr lang="en-US"/>
          </a:p>
        </p:txBody>
      </p:sp>
      <p:pic>
        <p:nvPicPr>
          <p:cNvPr id="16" name="Image 2" descr="preencoded.png"/>
          <p:cNvPicPr>
            <a:picLocks noChangeAspect="1"/>
          </p:cNvPicPr>
          <p:nvPr/>
        </p:nvPicPr>
        <p:blipFill>
          <a:blip r:embed="rId5"/>
          <a:stretch>
            <a:fillRect/>
          </a:stretch>
        </p:blipFill>
        <p:spPr>
          <a:xfrm>
            <a:off x="658368" y="4645152"/>
            <a:ext cx="237744" cy="237744"/>
          </a:xfrm>
          <a:prstGeom prst="rect">
            <a:avLst/>
          </a:prstGeom>
        </p:spPr>
      </p:pic>
      <p:sp>
        <p:nvSpPr>
          <p:cNvPr id="17" name="Text 12"/>
          <p:cNvSpPr txBox="1"/>
          <p:nvPr/>
        </p:nvSpPr>
        <p:spPr>
          <a:xfrm>
            <a:off x="1188720" y="4517136"/>
            <a:ext cx="6035040" cy="292608"/>
          </a:xfrm>
          <a:prstGeom prst="rect">
            <a:avLst/>
          </a:prstGeom>
          <a:noFill/>
          <a:ln/>
        </p:spPr>
        <p:txBody>
          <a:bodyPr wrap="square" lIns="0" tIns="0" rIns="0" bIns="0" rtlCol="0" anchor="ctr"/>
          <a:lstStyle/>
          <a:p>
            <a:pPr marL="0" indent="0">
              <a:buNone/>
            </a:pPr>
            <a:r>
              <a:rPr lang="en-US" sz="1350" b="1" dirty="0">
                <a:solidFill>
                  <a:srgbClr val="0F2D52"/>
                </a:solidFill>
                <a:latin typeface="Trebuchet MS" pitchFamily="34" charset="0"/>
                <a:ea typeface="Trebuchet MS" pitchFamily="34" charset="-122"/>
                <a:cs typeface="Trebuchet MS" pitchFamily="34" charset="-120"/>
              </a:rPr>
              <a:t>A narrower gap than it looks</a:t>
            </a:r>
            <a:endParaRPr lang="en-US" sz="1350" dirty="0"/>
          </a:p>
        </p:txBody>
      </p:sp>
      <p:sp>
        <p:nvSpPr>
          <p:cNvPr id="18" name="Text 13"/>
          <p:cNvSpPr txBox="1"/>
          <p:nvPr/>
        </p:nvSpPr>
        <p:spPr>
          <a:xfrm>
            <a:off x="1188720" y="4828032"/>
            <a:ext cx="6035040" cy="868680"/>
          </a:xfrm>
          <a:prstGeom prst="rect">
            <a:avLst/>
          </a:prstGeom>
          <a:noFill/>
          <a:ln/>
        </p:spPr>
        <p:txBody>
          <a:bodyPr wrap="square" lIns="0" tIns="0" rIns="0" bIns="0" rtlCol="0" anchor="t"/>
          <a:lstStyle/>
          <a:p>
            <a:pPr marL="0" indent="0">
              <a:buNone/>
            </a:pPr>
            <a:r>
              <a:rPr lang="en-US" sz="1200" dirty="0">
                <a:solidFill>
                  <a:srgbClr val="2B3440"/>
                </a:solidFill>
                <a:latin typeface="Calibri" pitchFamily="34" charset="0"/>
                <a:ea typeface="Calibri" pitchFamily="34" charset="-122"/>
                <a:cs typeface="Calibri" pitchFamily="34" charset="-120"/>
              </a:rPr>
              <a:t>Both sides agree wire transaction data should not launch first. Open: whether wire help content launches, what happens when the assistant cannot answer, and what evidence unlocks wires.</a:t>
            </a:r>
            <a:endParaRPr lang="en-US" sz="1200" dirty="0"/>
          </a:p>
        </p:txBody>
      </p:sp>
      <p:sp>
        <p:nvSpPr>
          <p:cNvPr id="19" name="Shape 14"/>
          <p:cNvSpPr/>
          <p:nvPr/>
        </p:nvSpPr>
        <p:spPr>
          <a:xfrm>
            <a:off x="7680960" y="1463040"/>
            <a:ext cx="3977640" cy="4297680"/>
          </a:xfrm>
          <a:prstGeom prst="roundRect">
            <a:avLst>
              <a:gd name="adj" fmla="val 1839"/>
            </a:avLst>
          </a:prstGeom>
          <a:solidFill>
            <a:srgbClr val="E8EEF6"/>
          </a:solidFill>
          <a:ln w="12700">
            <a:solidFill>
              <a:srgbClr val="E8EEF6"/>
            </a:solidFill>
            <a:prstDash val="solid"/>
          </a:ln>
        </p:spPr>
        <p:txBody>
          <a:bodyPr/>
          <a:lstStyle/>
          <a:p>
            <a:endParaRPr lang="en-US"/>
          </a:p>
        </p:txBody>
      </p:sp>
      <p:sp>
        <p:nvSpPr>
          <p:cNvPr id="20" name="Text 15"/>
          <p:cNvSpPr txBox="1"/>
          <p:nvPr/>
        </p:nvSpPr>
        <p:spPr>
          <a:xfrm>
            <a:off x="7955280" y="1645920"/>
            <a:ext cx="3474720" cy="320040"/>
          </a:xfrm>
          <a:prstGeom prst="rect">
            <a:avLst/>
          </a:prstGeom>
          <a:noFill/>
          <a:ln/>
        </p:spPr>
        <p:txBody>
          <a:bodyPr wrap="square" lIns="0" tIns="0" rIns="0" bIns="0" rtlCol="0" anchor="ctr"/>
          <a:lstStyle/>
          <a:p>
            <a:pPr marL="0" indent="0">
              <a:buNone/>
            </a:pPr>
            <a:r>
              <a:rPr lang="en-US" sz="1500" b="1" dirty="0">
                <a:solidFill>
                  <a:srgbClr val="0F2D52"/>
                </a:solidFill>
                <a:latin typeface="Trebuchet MS" pitchFamily="34" charset="0"/>
                <a:ea typeface="Trebuchet MS" pitchFamily="34" charset="-122"/>
                <a:cs typeface="Trebuchet MS" pitchFamily="34" charset="-120"/>
              </a:rPr>
              <a:t>The ask</a:t>
            </a:r>
            <a:endParaRPr lang="en-US" sz="1500" dirty="0"/>
          </a:p>
        </p:txBody>
      </p:sp>
      <p:sp>
        <p:nvSpPr>
          <p:cNvPr id="21" name="Shape 16"/>
          <p:cNvSpPr/>
          <p:nvPr/>
        </p:nvSpPr>
        <p:spPr>
          <a:xfrm>
            <a:off x="7955280" y="2121408"/>
            <a:ext cx="310896" cy="310896"/>
          </a:xfrm>
          <a:prstGeom prst="ellipse">
            <a:avLst/>
          </a:prstGeom>
          <a:solidFill>
            <a:srgbClr val="0F2D52"/>
          </a:solidFill>
          <a:ln w="12700">
            <a:solidFill>
              <a:srgbClr val="0F2D52"/>
            </a:solidFill>
            <a:prstDash val="solid"/>
          </a:ln>
        </p:spPr>
        <p:txBody>
          <a:bodyPr/>
          <a:lstStyle/>
          <a:p>
            <a:endParaRPr lang="en-US"/>
          </a:p>
        </p:txBody>
      </p:sp>
      <p:sp>
        <p:nvSpPr>
          <p:cNvPr id="22" name="Text 17"/>
          <p:cNvSpPr txBox="1"/>
          <p:nvPr/>
        </p:nvSpPr>
        <p:spPr>
          <a:xfrm>
            <a:off x="7955280" y="2121408"/>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1</a:t>
            </a:r>
            <a:endParaRPr lang="en-US" sz="1100" dirty="0"/>
          </a:p>
        </p:txBody>
      </p:sp>
      <p:sp>
        <p:nvSpPr>
          <p:cNvPr id="23" name="Text 18"/>
          <p:cNvSpPr txBox="1"/>
          <p:nvPr/>
        </p:nvSpPr>
        <p:spPr>
          <a:xfrm>
            <a:off x="8366760" y="2103120"/>
            <a:ext cx="3108960" cy="457200"/>
          </a:xfrm>
          <a:prstGeom prst="rect">
            <a:avLst/>
          </a:prstGeom>
          <a:noFill/>
          <a:ln/>
        </p:spPr>
        <p:txBody>
          <a:bodyPr wrap="square" lIns="0" tIns="0" rIns="0" bIns="0" rtlCol="0" anchor="t"/>
          <a:lstStyle/>
          <a:p>
            <a:pPr marL="0" indent="0">
              <a:buNone/>
            </a:pPr>
            <a:r>
              <a:rPr lang="en-US" sz="1250" b="1" dirty="0">
                <a:solidFill>
                  <a:srgbClr val="0F2D52"/>
                </a:solidFill>
                <a:latin typeface="Trebuchet MS" pitchFamily="34" charset="0"/>
                <a:ea typeface="Trebuchet MS" pitchFamily="34" charset="-122"/>
                <a:cs typeface="Trebuchet MS" pitchFamily="34" charset="-120"/>
              </a:rPr>
              <a:t>Approve a help-first, gated launch</a:t>
            </a:r>
            <a:endParaRPr lang="en-US" sz="1250" dirty="0"/>
          </a:p>
        </p:txBody>
      </p:sp>
      <p:sp>
        <p:nvSpPr>
          <p:cNvPr id="24" name="Text 19"/>
          <p:cNvSpPr txBox="1"/>
          <p:nvPr/>
        </p:nvSpPr>
        <p:spPr>
          <a:xfrm>
            <a:off x="8366760" y="2560320"/>
            <a:ext cx="3108960" cy="685800"/>
          </a:xfrm>
          <a:prstGeom prst="rect">
            <a:avLst/>
          </a:prstGeom>
          <a:noFill/>
          <a:ln/>
        </p:spPr>
        <p:txBody>
          <a:bodyPr wrap="square" lIns="0" tIns="0" rIns="0" bIns="0" rtlCol="0" anchor="t"/>
          <a:lstStyle/>
          <a:p>
            <a:pPr marL="0" indent="0">
              <a:buNone/>
            </a:pPr>
            <a:r>
              <a:rPr lang="en-US" sz="1100" dirty="0">
                <a:solidFill>
                  <a:srgbClr val="2B3440"/>
                </a:solidFill>
                <a:latin typeface="Calibri" pitchFamily="34" charset="0"/>
                <a:ea typeface="Calibri" pitchFamily="34" charset="-122"/>
                <a:cs typeface="Calibri" pitchFamily="34" charset="-120"/>
              </a:rPr>
              <a:t>Phases 0 and 1: internal use, then a limited client cohort with a holdout. Wire data and wire-specific requests wait for Phase 2.</a:t>
            </a:r>
            <a:endParaRPr lang="en-US" sz="1100" dirty="0"/>
          </a:p>
        </p:txBody>
      </p:sp>
      <p:sp>
        <p:nvSpPr>
          <p:cNvPr id="25" name="Shape 20"/>
          <p:cNvSpPr/>
          <p:nvPr/>
        </p:nvSpPr>
        <p:spPr>
          <a:xfrm>
            <a:off x="7955280" y="3401568"/>
            <a:ext cx="310896" cy="310896"/>
          </a:xfrm>
          <a:prstGeom prst="ellipse">
            <a:avLst/>
          </a:prstGeom>
          <a:solidFill>
            <a:srgbClr val="0F2D52"/>
          </a:solidFill>
          <a:ln w="12700">
            <a:solidFill>
              <a:srgbClr val="0F2D52"/>
            </a:solidFill>
            <a:prstDash val="solid"/>
          </a:ln>
        </p:spPr>
        <p:txBody>
          <a:bodyPr/>
          <a:lstStyle/>
          <a:p>
            <a:endParaRPr lang="en-US"/>
          </a:p>
        </p:txBody>
      </p:sp>
      <p:sp>
        <p:nvSpPr>
          <p:cNvPr id="26" name="Text 21"/>
          <p:cNvSpPr txBox="1"/>
          <p:nvPr/>
        </p:nvSpPr>
        <p:spPr>
          <a:xfrm>
            <a:off x="7955280" y="3401568"/>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2</a:t>
            </a:r>
            <a:endParaRPr lang="en-US" sz="1100" dirty="0"/>
          </a:p>
        </p:txBody>
      </p:sp>
      <p:sp>
        <p:nvSpPr>
          <p:cNvPr id="27" name="Text 22"/>
          <p:cNvSpPr txBox="1"/>
          <p:nvPr/>
        </p:nvSpPr>
        <p:spPr>
          <a:xfrm>
            <a:off x="8366760" y="3383280"/>
            <a:ext cx="3108960" cy="457200"/>
          </a:xfrm>
          <a:prstGeom prst="rect">
            <a:avLst/>
          </a:prstGeom>
          <a:noFill/>
          <a:ln/>
        </p:spPr>
        <p:txBody>
          <a:bodyPr wrap="square" lIns="0" tIns="0" rIns="0" bIns="0" rtlCol="0" anchor="t"/>
          <a:lstStyle/>
          <a:p>
            <a:pPr marL="0" indent="0">
              <a:buNone/>
            </a:pPr>
            <a:r>
              <a:rPr lang="en-US" sz="1250" b="1" dirty="0">
                <a:solidFill>
                  <a:srgbClr val="0F2D52"/>
                </a:solidFill>
                <a:latin typeface="Trebuchet MS" pitchFamily="34" charset="0"/>
                <a:ea typeface="Trebuchet MS" pitchFamily="34" charset="-122"/>
                <a:cs typeface="Trebuchet MS" pitchFamily="34" charset="-120"/>
              </a:rPr>
              <a:t>Charter a joint Payments–Digital group within two weeks</a:t>
            </a:r>
            <a:endParaRPr lang="en-US" sz="1250" dirty="0"/>
          </a:p>
        </p:txBody>
      </p:sp>
      <p:sp>
        <p:nvSpPr>
          <p:cNvPr id="28" name="Text 23"/>
          <p:cNvSpPr txBox="1"/>
          <p:nvPr/>
        </p:nvSpPr>
        <p:spPr>
          <a:xfrm>
            <a:off x="8366760" y="3840480"/>
            <a:ext cx="3108960" cy="685800"/>
          </a:xfrm>
          <a:prstGeom prst="rect">
            <a:avLst/>
          </a:prstGeom>
          <a:noFill/>
          <a:ln/>
        </p:spPr>
        <p:txBody>
          <a:bodyPr wrap="square" lIns="0" tIns="0" rIns="0" bIns="0" rtlCol="0" anchor="t"/>
          <a:lstStyle/>
          <a:p>
            <a:pPr marL="0" indent="0">
              <a:buNone/>
            </a:pPr>
            <a:r>
              <a:rPr lang="en-US" sz="1100" dirty="0">
                <a:solidFill>
                  <a:srgbClr val="2B3440"/>
                </a:solidFill>
                <a:latin typeface="Calibri" pitchFamily="34" charset="0"/>
                <a:ea typeface="Calibri" pitchFamily="34" charset="-122"/>
                <a:cs typeface="Calibri" pitchFamily="34" charset="-120"/>
              </a:rPr>
              <a:t>To supply the baseline call data, agree gate thresholds, and co-own the weekly readout.</a:t>
            </a:r>
            <a:endParaRPr lang="en-US" sz="1100" dirty="0"/>
          </a:p>
        </p:txBody>
      </p:sp>
      <p:sp>
        <p:nvSpPr>
          <p:cNvPr id="29" name="Shape 24"/>
          <p:cNvSpPr/>
          <p:nvPr/>
        </p:nvSpPr>
        <p:spPr>
          <a:xfrm>
            <a:off x="7955280" y="4681728"/>
            <a:ext cx="310896" cy="310896"/>
          </a:xfrm>
          <a:prstGeom prst="ellipse">
            <a:avLst/>
          </a:prstGeom>
          <a:solidFill>
            <a:srgbClr val="0F2D52"/>
          </a:solidFill>
          <a:ln w="12700">
            <a:solidFill>
              <a:srgbClr val="0F2D52"/>
            </a:solidFill>
            <a:prstDash val="solid"/>
          </a:ln>
        </p:spPr>
        <p:txBody>
          <a:bodyPr/>
          <a:lstStyle/>
          <a:p>
            <a:endParaRPr lang="en-US"/>
          </a:p>
        </p:txBody>
      </p:sp>
      <p:sp>
        <p:nvSpPr>
          <p:cNvPr id="30" name="Text 25"/>
          <p:cNvSpPr txBox="1"/>
          <p:nvPr/>
        </p:nvSpPr>
        <p:spPr>
          <a:xfrm>
            <a:off x="7955280" y="4681728"/>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3</a:t>
            </a:r>
            <a:endParaRPr lang="en-US" sz="1100" dirty="0"/>
          </a:p>
        </p:txBody>
      </p:sp>
      <p:sp>
        <p:nvSpPr>
          <p:cNvPr id="31" name="Text 26"/>
          <p:cNvSpPr txBox="1"/>
          <p:nvPr/>
        </p:nvSpPr>
        <p:spPr>
          <a:xfrm>
            <a:off x="8366760" y="4663440"/>
            <a:ext cx="3108960" cy="457200"/>
          </a:xfrm>
          <a:prstGeom prst="rect">
            <a:avLst/>
          </a:prstGeom>
          <a:noFill/>
          <a:ln/>
        </p:spPr>
        <p:txBody>
          <a:bodyPr wrap="square" lIns="0" tIns="0" rIns="0" bIns="0" rtlCol="0" anchor="t"/>
          <a:lstStyle/>
          <a:p>
            <a:pPr marL="0" indent="0">
              <a:buNone/>
            </a:pPr>
            <a:r>
              <a:rPr lang="en-US" sz="1250" b="1" dirty="0">
                <a:solidFill>
                  <a:srgbClr val="0F2D52"/>
                </a:solidFill>
                <a:latin typeface="Trebuchet MS" pitchFamily="34" charset="0"/>
                <a:ea typeface="Trebuchet MS" pitchFamily="34" charset="-122"/>
                <a:cs typeface="Trebuchet MS" pitchFamily="34" charset="-120"/>
              </a:rPr>
              <a:t>Make wires an evidence gate, not a veto</a:t>
            </a:r>
            <a:endParaRPr lang="en-US" sz="1250" dirty="0"/>
          </a:p>
        </p:txBody>
      </p:sp>
      <p:sp>
        <p:nvSpPr>
          <p:cNvPr id="32" name="Text 27"/>
          <p:cNvSpPr txBox="1"/>
          <p:nvPr/>
        </p:nvSpPr>
        <p:spPr>
          <a:xfrm>
            <a:off x="8366760" y="5120640"/>
            <a:ext cx="3108960" cy="685800"/>
          </a:xfrm>
          <a:prstGeom prst="rect">
            <a:avLst/>
          </a:prstGeom>
          <a:noFill/>
          <a:ln/>
        </p:spPr>
        <p:txBody>
          <a:bodyPr wrap="square" lIns="0" tIns="0" rIns="0" bIns="0" rtlCol="0" anchor="t"/>
          <a:lstStyle/>
          <a:p>
            <a:pPr marL="0" indent="0">
              <a:buNone/>
            </a:pPr>
            <a:r>
              <a:rPr lang="en-US" sz="1100" dirty="0">
                <a:solidFill>
                  <a:srgbClr val="2B3440"/>
                </a:solidFill>
                <a:latin typeface="Calibri" pitchFamily="34" charset="0"/>
                <a:ea typeface="Calibri" pitchFamily="34" charset="-122"/>
                <a:cs typeface="Calibri" pitchFamily="34" charset="-120"/>
              </a:rPr>
              <a:t>Decision at the end of Phase 1 on measured contact impact and demand for wire data.</a:t>
            </a:r>
            <a:endParaRPr lang="en-US" sz="1100" dirty="0"/>
          </a:p>
        </p:txBody>
      </p:sp>
      <p:sp>
        <p:nvSpPr>
          <p:cNvPr id="33" name="Text 28"/>
          <p:cNvSpPr txBox="1"/>
          <p:nvPr/>
        </p:nvSpPr>
        <p:spPr>
          <a:xfrm>
            <a:off x="548640" y="5897880"/>
            <a:ext cx="11064240" cy="365760"/>
          </a:xfrm>
          <a:prstGeom prst="rect">
            <a:avLst/>
          </a:prstGeom>
          <a:noFill/>
          <a:ln/>
        </p:spPr>
        <p:txBody>
          <a:bodyPr wrap="square" lIns="0" tIns="0" rIns="0" bIns="0" rtlCol="0" anchor="ctr"/>
          <a:lstStyle/>
          <a:p>
            <a:pPr marL="0" indent="0">
              <a:buNone/>
            </a:pPr>
            <a:r>
              <a:rPr lang="en-US" sz="1500" i="1" dirty="0">
                <a:solidFill>
                  <a:srgbClr val="2E6DB4"/>
                </a:solidFill>
                <a:latin typeface="Trebuchet MS" pitchFamily="34" charset="0"/>
                <a:ea typeface="Trebuchet MS" pitchFamily="34" charset="-122"/>
                <a:cs typeface="Trebuchet MS" pitchFamily="34" charset="-120"/>
              </a:rPr>
              <a:t>The concern is fair. It should determine how we launch, not whether.</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64240" cy="640080"/>
          </a:xfrm>
          <a:prstGeom prst="rect">
            <a:avLst/>
          </a:prstGeom>
          <a:noFill/>
          <a:ln/>
        </p:spPr>
        <p:txBody>
          <a:bodyPr wrap="square" lIns="0" tIns="0" rIns="0" bIns="0" rtlCol="0" anchor="ctr"/>
          <a:lstStyle/>
          <a:p>
            <a:pPr marL="0" indent="0">
              <a:buNone/>
            </a:pPr>
            <a:r>
              <a:rPr lang="en-US" sz="2800" b="1" dirty="0">
                <a:solidFill>
                  <a:srgbClr val="0F2D52"/>
                </a:solidFill>
                <a:latin typeface="Trebuchet MS" pitchFamily="34" charset="0"/>
                <a:ea typeface="Trebuchet MS" pitchFamily="34" charset="-122"/>
                <a:cs typeface="Trebuchet MS" pitchFamily="34" charset="-120"/>
              </a:rPr>
              <a:t>What the evidence says</a:t>
            </a:r>
            <a:endParaRPr lang="en-US" sz="2800" dirty="0"/>
          </a:p>
        </p:txBody>
      </p:sp>
      <p:sp>
        <p:nvSpPr>
          <p:cNvPr id="3" name="Text 1"/>
          <p:cNvSpPr txBox="1"/>
          <p:nvPr/>
        </p:nvSpPr>
        <p:spPr>
          <a:xfrm>
            <a:off x="548640" y="987552"/>
            <a:ext cx="11064240" cy="365760"/>
          </a:xfrm>
          <a:prstGeom prst="rect">
            <a:avLst/>
          </a:prstGeom>
          <a:noFill/>
          <a:ln/>
        </p:spPr>
        <p:txBody>
          <a:bodyPr wrap="square" lIns="0" tIns="0" rIns="0" bIns="0" rtlCol="0" anchor="ctr"/>
          <a:lstStyle/>
          <a:p>
            <a:pPr marL="0" indent="0">
              <a:buNone/>
            </a:pPr>
            <a:r>
              <a:rPr lang="en-US" sz="1300" dirty="0">
                <a:solidFill>
                  <a:srgbClr val="5A6270"/>
                </a:solidFill>
                <a:latin typeface="Calibri" pitchFamily="34" charset="0"/>
                <a:ea typeface="Calibri" pitchFamily="34" charset="-122"/>
                <a:cs typeface="Calibri" pitchFamily="34" charset="-120"/>
              </a:rPr>
              <a:t>Self-service cuts calls for clear, findable information and raises them for ambiguous information. Wire exceptions are ambiguous; procedural help is not.</a:t>
            </a:r>
            <a:endParaRPr lang="en-US" sz="1300" dirty="0"/>
          </a:p>
        </p:txBody>
      </p:sp>
      <p:sp>
        <p:nvSpPr>
          <p:cNvPr id="4" name="Text 2"/>
          <p:cNvSpPr txBox="1"/>
          <p:nvPr/>
        </p:nvSpPr>
        <p:spPr>
          <a:xfrm>
            <a:off x="548640" y="6419088"/>
            <a:ext cx="10058400" cy="274320"/>
          </a:xfrm>
          <a:prstGeom prst="rect">
            <a:avLst/>
          </a:prstGeom>
          <a:noFill/>
          <a:ln/>
        </p:spPr>
        <p:txBody>
          <a:bodyPr wrap="square" lIns="0" tIns="0" rIns="0" bIns="0" rtlCol="0" anchor="ctr"/>
          <a:lstStyle/>
          <a:p>
            <a:pPr marL="0" indent="0">
              <a:buNone/>
            </a:pPr>
            <a:r>
              <a:rPr lang="en-US" sz="900" dirty="0">
                <a:solidFill>
                  <a:srgbClr val="5A6270"/>
                </a:solidFill>
                <a:latin typeface="Calibri" pitchFamily="34" charset="0"/>
                <a:ea typeface="Calibri" pitchFamily="34" charset="-122"/>
                <a:cs typeface="Calibri" pitchFamily="34" charset="-120"/>
              </a:rPr>
              <a:t>SAFARI customer launch  |  Executive summary  |  Draft for discussion  |  Evidence labelled independent, company-reported or vendor</a:t>
            </a:r>
            <a:endParaRPr lang="en-US" sz="900" dirty="0"/>
          </a:p>
        </p:txBody>
      </p:sp>
      <p:sp>
        <p:nvSpPr>
          <p:cNvPr id="5" name="Text 3"/>
          <p:cNvSpPr txBox="1"/>
          <p:nvPr/>
        </p:nvSpPr>
        <p:spPr>
          <a:xfrm>
            <a:off x="11155680" y="6419088"/>
            <a:ext cx="502920" cy="274320"/>
          </a:xfrm>
          <a:prstGeom prst="rect">
            <a:avLst/>
          </a:prstGeom>
          <a:noFill/>
          <a:ln/>
        </p:spPr>
        <p:txBody>
          <a:bodyPr wrap="square" lIns="0" tIns="0" rIns="0" bIns="0" rtlCol="0" anchor="ctr"/>
          <a:lstStyle/>
          <a:p>
            <a:pPr marL="0" indent="0" algn="r">
              <a:buNone/>
            </a:pPr>
            <a:r>
              <a:rPr lang="en-US" sz="900" dirty="0">
                <a:solidFill>
                  <a:srgbClr val="5A6270"/>
                </a:solidFill>
                <a:latin typeface="Calibri" pitchFamily="34" charset="0"/>
                <a:ea typeface="Calibri" pitchFamily="34" charset="-122"/>
                <a:cs typeface="Calibri" pitchFamily="34" charset="-120"/>
              </a:rPr>
              <a:t>2 / 4</a:t>
            </a:r>
            <a:endParaRPr lang="en-US" sz="900" dirty="0"/>
          </a:p>
        </p:txBody>
      </p:sp>
      <p:sp>
        <p:nvSpPr>
          <p:cNvPr id="6" name="Shape 4"/>
          <p:cNvSpPr/>
          <p:nvPr/>
        </p:nvSpPr>
        <p:spPr>
          <a:xfrm>
            <a:off x="548640" y="1463040"/>
            <a:ext cx="3566160" cy="1371600"/>
          </a:xfrm>
          <a:prstGeom prst="roundRect">
            <a:avLst>
              <a:gd name="adj" fmla="val 5333"/>
            </a:avLst>
          </a:prstGeom>
          <a:solidFill>
            <a:srgbClr val="F4F7FB"/>
          </a:solidFill>
          <a:ln w="12700">
            <a:solidFill>
              <a:srgbClr val="F4F7FB"/>
            </a:solidFill>
            <a:prstDash val="solid"/>
          </a:ln>
        </p:spPr>
        <p:txBody>
          <a:bodyPr/>
          <a:lstStyle/>
          <a:p>
            <a:endParaRPr lang="en-US"/>
          </a:p>
        </p:txBody>
      </p:sp>
      <p:sp>
        <p:nvSpPr>
          <p:cNvPr id="7" name="Text 5"/>
          <p:cNvSpPr txBox="1"/>
          <p:nvPr/>
        </p:nvSpPr>
        <p:spPr>
          <a:xfrm>
            <a:off x="731520" y="1508760"/>
            <a:ext cx="1874520" cy="822960"/>
          </a:xfrm>
          <a:prstGeom prst="rect">
            <a:avLst/>
          </a:prstGeom>
          <a:noFill/>
          <a:ln/>
        </p:spPr>
        <p:txBody>
          <a:bodyPr wrap="square" lIns="0" tIns="0" rIns="0" bIns="0" rtlCol="0" anchor="ctr"/>
          <a:lstStyle/>
          <a:p>
            <a:pPr marL="0" indent="0">
              <a:buNone/>
            </a:pPr>
            <a:r>
              <a:rPr lang="en-US" sz="3200" b="1" dirty="0">
                <a:solidFill>
                  <a:srgbClr val="0F2D52"/>
                </a:solidFill>
                <a:latin typeface="Trebuchet MS" pitchFamily="34" charset="0"/>
                <a:ea typeface="Trebuchet MS" pitchFamily="34" charset="-122"/>
                <a:cs typeface="Trebuchet MS" pitchFamily="34" charset="-120"/>
              </a:rPr>
              <a:t>−29%</a:t>
            </a:r>
            <a:endParaRPr lang="en-US" sz="3200" dirty="0"/>
          </a:p>
        </p:txBody>
      </p:sp>
      <p:sp>
        <p:nvSpPr>
          <p:cNvPr id="8" name="Text 6"/>
          <p:cNvSpPr txBox="1"/>
          <p:nvPr/>
        </p:nvSpPr>
        <p:spPr>
          <a:xfrm>
            <a:off x="2606040" y="1554480"/>
            <a:ext cx="1417320" cy="777240"/>
          </a:xfrm>
          <a:prstGeom prst="rect">
            <a:avLst/>
          </a:prstGeom>
          <a:noFill/>
          <a:ln/>
        </p:spPr>
        <p:txBody>
          <a:bodyPr wrap="square" lIns="0" tIns="0" rIns="0" bIns="0" rtlCol="0" anchor="ctr"/>
          <a:lstStyle/>
          <a:p>
            <a:pPr marL="0" indent="0">
              <a:buNone/>
            </a:pPr>
            <a:r>
              <a:rPr lang="en-US" sz="1150" dirty="0">
                <a:solidFill>
                  <a:srgbClr val="2B3440"/>
                </a:solidFill>
                <a:latin typeface="Calibri" pitchFamily="34" charset="0"/>
                <a:ea typeface="Calibri" pitchFamily="34" charset="-122"/>
                <a:cs typeface="Calibri" pitchFamily="34" charset="-120"/>
              </a:rPr>
              <a:t>calls for unambiguous, easily retrievable information</a:t>
            </a:r>
            <a:endParaRPr lang="en-US" sz="1150" dirty="0"/>
          </a:p>
        </p:txBody>
      </p:sp>
      <p:sp>
        <p:nvSpPr>
          <p:cNvPr id="9" name="Text 7"/>
          <p:cNvSpPr txBox="1"/>
          <p:nvPr/>
        </p:nvSpPr>
        <p:spPr>
          <a:xfrm>
            <a:off x="777240" y="2377440"/>
            <a:ext cx="3200400" cy="365760"/>
          </a:xfrm>
          <a:prstGeom prst="rect">
            <a:avLst/>
          </a:prstGeom>
          <a:noFill/>
          <a:ln/>
        </p:spPr>
        <p:txBody>
          <a:bodyPr wrap="square" lIns="0" tIns="0" rIns="0" bIns="0" rtlCol="0" anchor="ctr"/>
          <a:lstStyle/>
          <a:p>
            <a:pPr marL="0" indent="0">
              <a:buNone/>
            </a:pPr>
            <a:r>
              <a:rPr lang="en-US" sz="900" dirty="0">
                <a:solidFill>
                  <a:srgbClr val="5A6270"/>
                </a:solidFill>
                <a:latin typeface="Calibri" pitchFamily="34" charset="0"/>
                <a:ea typeface="Calibri" pitchFamily="34" charset="-122"/>
                <a:cs typeface="Calibri" pitchFamily="34" charset="-120"/>
              </a:rPr>
              <a:t>Kumar &amp; Telang, Information Systems Research 2012. Independent; U.S. insurer; pre-GenAI.</a:t>
            </a:r>
            <a:endParaRPr lang="en-US" sz="900" dirty="0"/>
          </a:p>
        </p:txBody>
      </p:sp>
      <p:sp>
        <p:nvSpPr>
          <p:cNvPr id="10" name="Shape 8"/>
          <p:cNvSpPr/>
          <p:nvPr/>
        </p:nvSpPr>
        <p:spPr>
          <a:xfrm>
            <a:off x="4297680" y="1463040"/>
            <a:ext cx="3566160" cy="1371600"/>
          </a:xfrm>
          <a:prstGeom prst="roundRect">
            <a:avLst>
              <a:gd name="adj" fmla="val 5333"/>
            </a:avLst>
          </a:prstGeom>
          <a:solidFill>
            <a:srgbClr val="F4F7FB"/>
          </a:solidFill>
          <a:ln w="12700">
            <a:solidFill>
              <a:srgbClr val="F4F7FB"/>
            </a:solidFill>
            <a:prstDash val="solid"/>
          </a:ln>
        </p:spPr>
        <p:txBody>
          <a:bodyPr/>
          <a:lstStyle/>
          <a:p>
            <a:endParaRPr lang="en-US"/>
          </a:p>
        </p:txBody>
      </p:sp>
      <p:sp>
        <p:nvSpPr>
          <p:cNvPr id="11" name="Text 9"/>
          <p:cNvSpPr txBox="1"/>
          <p:nvPr/>
        </p:nvSpPr>
        <p:spPr>
          <a:xfrm>
            <a:off x="4480560" y="1508760"/>
            <a:ext cx="1874520" cy="822960"/>
          </a:xfrm>
          <a:prstGeom prst="rect">
            <a:avLst/>
          </a:prstGeom>
          <a:noFill/>
          <a:ln/>
        </p:spPr>
        <p:txBody>
          <a:bodyPr wrap="square" lIns="0" tIns="0" rIns="0" bIns="0" rtlCol="0" anchor="ctr"/>
          <a:lstStyle/>
          <a:p>
            <a:pPr marL="0" indent="0">
              <a:buNone/>
            </a:pPr>
            <a:r>
              <a:rPr lang="en-US" sz="3200" b="1" dirty="0">
                <a:solidFill>
                  <a:srgbClr val="0F2D52"/>
                </a:solidFill>
                <a:latin typeface="Trebuchet MS" pitchFamily="34" charset="0"/>
                <a:ea typeface="Trebuchet MS" pitchFamily="34" charset="-122"/>
                <a:cs typeface="Trebuchet MS" pitchFamily="34" charset="-120"/>
              </a:rPr>
              <a:t>+66%</a:t>
            </a:r>
            <a:endParaRPr lang="en-US" sz="3200" dirty="0"/>
          </a:p>
        </p:txBody>
      </p:sp>
      <p:sp>
        <p:nvSpPr>
          <p:cNvPr id="12" name="Text 10"/>
          <p:cNvSpPr txBox="1"/>
          <p:nvPr/>
        </p:nvSpPr>
        <p:spPr>
          <a:xfrm>
            <a:off x="6355080" y="1554480"/>
            <a:ext cx="1417320" cy="777240"/>
          </a:xfrm>
          <a:prstGeom prst="rect">
            <a:avLst/>
          </a:prstGeom>
          <a:noFill/>
          <a:ln/>
        </p:spPr>
        <p:txBody>
          <a:bodyPr wrap="square" lIns="0" tIns="0" rIns="0" bIns="0" rtlCol="0" anchor="ctr"/>
          <a:lstStyle/>
          <a:p>
            <a:pPr marL="0" indent="0">
              <a:buNone/>
            </a:pPr>
            <a:r>
              <a:rPr lang="en-US" sz="1150" dirty="0">
                <a:solidFill>
                  <a:srgbClr val="2B3440"/>
                </a:solidFill>
                <a:latin typeface="Calibri" pitchFamily="34" charset="0"/>
                <a:ea typeface="Calibri" pitchFamily="34" charset="-122"/>
                <a:cs typeface="Calibri" pitchFamily="34" charset="-120"/>
              </a:rPr>
              <a:t>calls about ambiguous information</a:t>
            </a:r>
            <a:endParaRPr lang="en-US" sz="1150" dirty="0"/>
          </a:p>
        </p:txBody>
      </p:sp>
      <p:sp>
        <p:nvSpPr>
          <p:cNvPr id="13" name="Text 11"/>
          <p:cNvSpPr txBox="1"/>
          <p:nvPr/>
        </p:nvSpPr>
        <p:spPr>
          <a:xfrm>
            <a:off x="4526280" y="2377440"/>
            <a:ext cx="3200400" cy="365760"/>
          </a:xfrm>
          <a:prstGeom prst="rect">
            <a:avLst/>
          </a:prstGeom>
          <a:noFill/>
          <a:ln/>
        </p:spPr>
        <p:txBody>
          <a:bodyPr wrap="square" lIns="0" tIns="0" rIns="0" bIns="0" rtlCol="0" anchor="ctr"/>
          <a:lstStyle/>
          <a:p>
            <a:pPr marL="0" indent="0">
              <a:buNone/>
            </a:pPr>
            <a:r>
              <a:rPr lang="en-US" sz="900" dirty="0">
                <a:solidFill>
                  <a:srgbClr val="5A6270"/>
                </a:solidFill>
                <a:latin typeface="Calibri" pitchFamily="34" charset="0"/>
                <a:ea typeface="Calibri" pitchFamily="34" charset="-122"/>
                <a:cs typeface="Calibri" pitchFamily="34" charset="-120"/>
              </a:rPr>
              <a:t>Kumar &amp; Telang, Information Systems Research 2012. Independent; U.S. insurer; pre-GenAI.</a:t>
            </a:r>
            <a:endParaRPr lang="en-US" sz="900" dirty="0"/>
          </a:p>
        </p:txBody>
      </p:sp>
      <p:sp>
        <p:nvSpPr>
          <p:cNvPr id="14" name="Shape 12"/>
          <p:cNvSpPr/>
          <p:nvPr/>
        </p:nvSpPr>
        <p:spPr>
          <a:xfrm>
            <a:off x="8046720" y="1463040"/>
            <a:ext cx="3566160" cy="1371600"/>
          </a:xfrm>
          <a:prstGeom prst="roundRect">
            <a:avLst>
              <a:gd name="adj" fmla="val 5333"/>
            </a:avLst>
          </a:prstGeom>
          <a:solidFill>
            <a:srgbClr val="F4F7FB"/>
          </a:solidFill>
          <a:ln w="12700">
            <a:solidFill>
              <a:srgbClr val="F4F7FB"/>
            </a:solidFill>
            <a:prstDash val="solid"/>
          </a:ln>
        </p:spPr>
        <p:txBody>
          <a:bodyPr/>
          <a:lstStyle/>
          <a:p>
            <a:endParaRPr lang="en-US"/>
          </a:p>
        </p:txBody>
      </p:sp>
      <p:sp>
        <p:nvSpPr>
          <p:cNvPr id="15" name="Text 13"/>
          <p:cNvSpPr txBox="1"/>
          <p:nvPr/>
        </p:nvSpPr>
        <p:spPr>
          <a:xfrm>
            <a:off x="8229600" y="1508760"/>
            <a:ext cx="1874520" cy="822960"/>
          </a:xfrm>
          <a:prstGeom prst="rect">
            <a:avLst/>
          </a:prstGeom>
          <a:noFill/>
          <a:ln/>
        </p:spPr>
        <p:txBody>
          <a:bodyPr wrap="square" lIns="0" tIns="0" rIns="0" bIns="0" rtlCol="0" anchor="ctr"/>
          <a:lstStyle/>
          <a:p>
            <a:pPr marL="0" indent="0">
              <a:buNone/>
            </a:pPr>
            <a:r>
              <a:rPr lang="en-US" sz="3200" b="1" dirty="0">
                <a:solidFill>
                  <a:srgbClr val="0F2D52"/>
                </a:solidFill>
                <a:latin typeface="Trebuchet MS" pitchFamily="34" charset="0"/>
                <a:ea typeface="Trebuchet MS" pitchFamily="34" charset="-122"/>
                <a:cs typeface="Trebuchet MS" pitchFamily="34" charset="-120"/>
              </a:rPr>
              <a:t>+14%</a:t>
            </a:r>
            <a:endParaRPr lang="en-US" sz="3200" dirty="0"/>
          </a:p>
        </p:txBody>
      </p:sp>
      <p:sp>
        <p:nvSpPr>
          <p:cNvPr id="16" name="Text 14"/>
          <p:cNvSpPr txBox="1"/>
          <p:nvPr/>
        </p:nvSpPr>
        <p:spPr>
          <a:xfrm>
            <a:off x="10104120" y="1554480"/>
            <a:ext cx="1417320" cy="777240"/>
          </a:xfrm>
          <a:prstGeom prst="rect">
            <a:avLst/>
          </a:prstGeom>
          <a:noFill/>
          <a:ln/>
        </p:spPr>
        <p:txBody>
          <a:bodyPr wrap="square" lIns="0" tIns="0" rIns="0" bIns="0" rtlCol="0" anchor="ctr"/>
          <a:lstStyle/>
          <a:p>
            <a:pPr marL="0" indent="0">
              <a:buNone/>
            </a:pPr>
            <a:r>
              <a:rPr lang="en-US" sz="1150" dirty="0">
                <a:solidFill>
                  <a:srgbClr val="2B3440"/>
                </a:solidFill>
                <a:latin typeface="Calibri" pitchFamily="34" charset="0"/>
                <a:ea typeface="Calibri" pitchFamily="34" charset="-122"/>
                <a:cs typeface="Calibri" pitchFamily="34" charset="-120"/>
              </a:rPr>
              <a:t>net change in calls after web self-service was added</a:t>
            </a:r>
            <a:endParaRPr lang="en-US" sz="1150" dirty="0"/>
          </a:p>
        </p:txBody>
      </p:sp>
      <p:sp>
        <p:nvSpPr>
          <p:cNvPr id="17" name="Text 15"/>
          <p:cNvSpPr txBox="1"/>
          <p:nvPr/>
        </p:nvSpPr>
        <p:spPr>
          <a:xfrm>
            <a:off x="8275320" y="2377440"/>
            <a:ext cx="3200400" cy="365760"/>
          </a:xfrm>
          <a:prstGeom prst="rect">
            <a:avLst/>
          </a:prstGeom>
          <a:noFill/>
          <a:ln/>
        </p:spPr>
        <p:txBody>
          <a:bodyPr wrap="square" lIns="0" tIns="0" rIns="0" bIns="0" rtlCol="0" anchor="ctr"/>
          <a:lstStyle/>
          <a:p>
            <a:pPr marL="0" indent="0">
              <a:buNone/>
            </a:pPr>
            <a:r>
              <a:rPr lang="en-US" sz="900" dirty="0">
                <a:solidFill>
                  <a:srgbClr val="5A6270"/>
                </a:solidFill>
                <a:latin typeface="Calibri" pitchFamily="34" charset="0"/>
                <a:ea typeface="Calibri" pitchFamily="34" charset="-122"/>
                <a:cs typeface="Calibri" pitchFamily="34" charset="-120"/>
              </a:rPr>
              <a:t>Kumar &amp; Telang, Information Systems Research 2012. Independent; U.S. insurer; pre-GenAI.</a:t>
            </a:r>
            <a:endParaRPr lang="en-US" sz="900" dirty="0"/>
          </a:p>
        </p:txBody>
      </p:sp>
      <p:sp>
        <p:nvSpPr>
          <p:cNvPr id="18" name="Text 16"/>
          <p:cNvSpPr txBox="1"/>
          <p:nvPr/>
        </p:nvSpPr>
        <p:spPr>
          <a:xfrm>
            <a:off x="548640" y="3063240"/>
            <a:ext cx="6583680" cy="320040"/>
          </a:xfrm>
          <a:prstGeom prst="rect">
            <a:avLst/>
          </a:prstGeom>
          <a:noFill/>
          <a:ln/>
        </p:spPr>
        <p:txBody>
          <a:bodyPr wrap="square" lIns="0" tIns="0" rIns="0" bIns="0" rtlCol="0" anchor="ctr"/>
          <a:lstStyle/>
          <a:p>
            <a:pPr marL="0" indent="0">
              <a:buNone/>
            </a:pPr>
            <a:r>
              <a:rPr lang="en-US" sz="1500" b="1" dirty="0">
                <a:solidFill>
                  <a:srgbClr val="0F2D52"/>
                </a:solidFill>
                <a:latin typeface="Trebuchet MS" pitchFamily="34" charset="0"/>
                <a:ea typeface="Trebuchet MS" pitchFamily="34" charset="-122"/>
                <a:cs typeface="Trebuchet MS" pitchFamily="34" charset="-120"/>
              </a:rPr>
              <a:t>Payments’ four mechanisms, assessed</a:t>
            </a:r>
            <a:endParaRPr lang="en-US" sz="15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3429000"/>
          <a:ext cx="6583680" cy="2286000"/>
        </p:xfrm>
        <a:graphic>
          <a:graphicData uri="http://schemas.openxmlformats.org/drawingml/2006/table">
            <a:tbl>
              <a:tblPr/>
              <a:tblGrid>
                <a:gridCol w="192024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tblGrid>
              <a:tr h="274320">
                <a:tc>
                  <a:txBody>
                    <a:bodyPr/>
                    <a:lstStyle/>
                    <a:p>
                      <a:pPr marL="0" indent="0">
                        <a:buNone/>
                      </a:pPr>
                      <a:r>
                        <a:rPr lang="en-US" sz="1050" b="1" dirty="0">
                          <a:solidFill>
                            <a:srgbClr val="FFFFFF"/>
                          </a:solidFill>
                          <a:latin typeface="Trebuchet MS" pitchFamily="34" charset="0"/>
                          <a:ea typeface="Trebuchet MS" pitchFamily="34" charset="-122"/>
                          <a:cs typeface="Trebuchet MS" pitchFamily="34" charset="-120"/>
                        </a:rPr>
                        <a:t>Mechanism</a:t>
                      </a:r>
                      <a:endParaRPr lang="en-US" sz="1050" dirty="0">
                        <a:latin typeface="Trebuchet MS" charset="0"/>
                        <a:ea typeface="Trebuchet MS" charset="0"/>
                        <a:cs typeface="Trebuchet MS" charset="0"/>
                      </a:endParaRPr>
                    </a:p>
                  </a:txBody>
                  <a:tcPr marL="45720" marR="45720">
                    <a:lnL w="6350" cap="flat" cmpd="sng" algn="ctr">
                      <a:solidFill>
                        <a:srgbClr val="C7D3E3"/>
                      </a:solidFill>
                      <a:prstDash val="solid"/>
                      <a:round/>
                      <a:headEnd type="none" w="med" len="med"/>
                      <a:tailEnd type="none" w="med" len="med"/>
                    </a:lnL>
                    <a:lnR w="6350" cap="flat" cmpd="sng" algn="ctr">
                      <a:solidFill>
                        <a:srgbClr val="C7D3E3"/>
                      </a:solidFill>
                      <a:prstDash val="solid"/>
                      <a:round/>
                      <a:headEnd type="none" w="med" len="med"/>
                      <a:tailEnd type="none" w="med" len="med"/>
                    </a:lnR>
                    <a:lnT w="6350" cap="flat" cmpd="sng" algn="ctr">
                      <a:solidFill>
                        <a:srgbClr val="C7D3E3"/>
                      </a:solidFill>
                      <a:prstDash val="solid"/>
                      <a:round/>
                      <a:headEnd type="none" w="med" len="med"/>
                      <a:tailEnd type="none" w="med" len="med"/>
                    </a:lnT>
                    <a:lnB w="6350" cap="flat" cmpd="sng" algn="ctr">
                      <a:solidFill>
                        <a:srgbClr val="C7D3E3"/>
                      </a:solidFill>
                      <a:prstDash val="solid"/>
                      <a:round/>
                      <a:headEnd type="none" w="med" len="med"/>
                      <a:tailEnd type="none" w="med" len="med"/>
                    </a:lnB>
                    <a:solidFill>
                      <a:srgbClr val="0F2D52"/>
                    </a:solidFill>
                  </a:tcPr>
                </a:tc>
                <a:tc>
                  <a:txBody>
                    <a:bodyPr/>
                    <a:lstStyle/>
                    <a:p>
                      <a:pPr marL="0" indent="0">
                        <a:buNone/>
                      </a:pPr>
                      <a:r>
                        <a:rPr lang="en-US" sz="1050" b="1" dirty="0">
                          <a:solidFill>
                            <a:srgbClr val="FFFFFF"/>
                          </a:solidFill>
                          <a:latin typeface="Trebuchet MS" pitchFamily="34" charset="0"/>
                          <a:ea typeface="Trebuchet MS" pitchFamily="34" charset="-122"/>
                          <a:cs typeface="Trebuchet MS" pitchFamily="34" charset="-120"/>
                        </a:rPr>
                        <a:t>Verdict</a:t>
                      </a:r>
                      <a:endParaRPr lang="en-US" sz="1050" dirty="0">
                        <a:latin typeface="Trebuchet MS" charset="0"/>
                        <a:ea typeface="Trebuchet MS" charset="0"/>
                        <a:cs typeface="Trebuchet MS" charset="0"/>
                      </a:endParaRPr>
                    </a:p>
                  </a:txBody>
                  <a:tcPr marL="45720" marR="45720">
                    <a:lnL w="6350" cap="flat" cmpd="sng" algn="ctr">
                      <a:solidFill>
                        <a:srgbClr val="C7D3E3"/>
                      </a:solidFill>
                      <a:prstDash val="solid"/>
                      <a:round/>
                      <a:headEnd type="none" w="med" len="med"/>
                      <a:tailEnd type="none" w="med" len="med"/>
                    </a:lnL>
                    <a:lnR w="6350" cap="flat" cmpd="sng" algn="ctr">
                      <a:solidFill>
                        <a:srgbClr val="C7D3E3"/>
                      </a:solidFill>
                      <a:prstDash val="solid"/>
                      <a:round/>
                      <a:headEnd type="none" w="med" len="med"/>
                      <a:tailEnd type="none" w="med" len="med"/>
                    </a:lnR>
                    <a:lnT w="6350" cap="flat" cmpd="sng" algn="ctr">
                      <a:solidFill>
                        <a:srgbClr val="C7D3E3"/>
                      </a:solidFill>
                      <a:prstDash val="solid"/>
                      <a:round/>
                      <a:headEnd type="none" w="med" len="med"/>
                      <a:tailEnd type="none" w="med" len="med"/>
                    </a:lnT>
                    <a:lnB w="6350" cap="flat" cmpd="sng" algn="ctr">
                      <a:solidFill>
                        <a:srgbClr val="C7D3E3"/>
                      </a:solidFill>
                      <a:prstDash val="solid"/>
                      <a:round/>
                      <a:headEnd type="none" w="med" len="med"/>
                      <a:tailEnd type="none" w="med" len="med"/>
                    </a:lnB>
                    <a:solidFill>
                      <a:srgbClr val="0F2D52"/>
                    </a:solidFill>
                  </a:tcPr>
                </a:tc>
                <a:tc>
                  <a:txBody>
                    <a:bodyPr/>
                    <a:lstStyle/>
                    <a:p>
                      <a:pPr marL="0" indent="0">
                        <a:buNone/>
                      </a:pPr>
                      <a:r>
                        <a:rPr lang="en-US" sz="1050" b="1" dirty="0">
                          <a:solidFill>
                            <a:srgbClr val="FFFFFF"/>
                          </a:solidFill>
                          <a:latin typeface="Trebuchet MS" pitchFamily="34" charset="0"/>
                          <a:ea typeface="Trebuchet MS" pitchFamily="34" charset="-122"/>
                          <a:cs typeface="Trebuchet MS" pitchFamily="34" charset="-120"/>
                        </a:rPr>
                        <a:t>How the launch answers it</a:t>
                      </a:r>
                      <a:endParaRPr lang="en-US" sz="1050" dirty="0">
                        <a:latin typeface="Trebuchet MS" charset="0"/>
                        <a:ea typeface="Trebuchet MS" charset="0"/>
                        <a:cs typeface="Trebuchet MS" charset="0"/>
                      </a:endParaRPr>
                    </a:p>
                  </a:txBody>
                  <a:tcPr marL="45720" marR="45720">
                    <a:lnL w="6350" cap="flat" cmpd="sng" algn="ctr">
                      <a:solidFill>
                        <a:srgbClr val="C7D3E3"/>
                      </a:solidFill>
                      <a:prstDash val="solid"/>
                      <a:round/>
                      <a:headEnd type="none" w="med" len="med"/>
                      <a:tailEnd type="none" w="med" len="med"/>
                    </a:lnL>
                    <a:lnR w="6350" cap="flat" cmpd="sng" algn="ctr">
                      <a:solidFill>
                        <a:srgbClr val="C7D3E3"/>
                      </a:solidFill>
                      <a:prstDash val="solid"/>
                      <a:round/>
                      <a:headEnd type="none" w="med" len="med"/>
                      <a:tailEnd type="none" w="med" len="med"/>
                    </a:lnR>
                    <a:lnT w="6350" cap="flat" cmpd="sng" algn="ctr">
                      <a:solidFill>
                        <a:srgbClr val="C7D3E3"/>
                      </a:solidFill>
                      <a:prstDash val="solid"/>
                      <a:round/>
                      <a:headEnd type="none" w="med" len="med"/>
                      <a:tailEnd type="none" w="med" len="med"/>
                    </a:lnT>
                    <a:lnB w="6350" cap="flat" cmpd="sng" algn="ctr">
                      <a:solidFill>
                        <a:srgbClr val="C7D3E3"/>
                      </a:solidFill>
                      <a:prstDash val="solid"/>
                      <a:round/>
                      <a:headEnd type="none" w="med" len="med"/>
                      <a:tailEnd type="none" w="med" len="med"/>
                    </a:lnB>
                    <a:solidFill>
                      <a:srgbClr val="0F2D52"/>
                    </a:solidFill>
                  </a:tcPr>
                </a:tc>
                <a:extLst>
                  <a:ext uri="{0D108BD9-81ED-4DB2-BD59-A6C34878D82A}">
                    <a16:rowId xmlns:a16="http://schemas.microsoft.com/office/drawing/2014/main" val="10000"/>
                  </a:ext>
                </a:extLst>
              </a:tr>
              <a:tr h="502920">
                <a:tc>
                  <a:txBody>
                    <a:bodyPr/>
                    <a:lstStyle/>
                    <a:p>
                      <a:pPr marL="0" indent="0">
                        <a:buNone/>
                      </a:pPr>
                      <a:r>
                        <a:rPr lang="en-US" sz="1050" dirty="0">
                          <a:solidFill>
                            <a:srgbClr val="2B3440"/>
                          </a:solidFill>
                          <a:latin typeface="Calibri" pitchFamily="34" charset="0"/>
                          <a:ea typeface="Calibri" pitchFamily="34" charset="-122"/>
                          <a:cs typeface="Calibri" pitchFamily="34" charset="-120"/>
                        </a:rPr>
                        <a:t>Unanswerable questions become calls</a:t>
                      </a:r>
                      <a:endParaRPr lang="en-US" sz="1050" dirty="0">
                        <a:latin typeface="Calibri" charset="0"/>
                        <a:ea typeface="Calibri" charset="0"/>
                        <a:cs typeface="Calibri" charset="0"/>
                      </a:endParaRPr>
                    </a:p>
                  </a:txBody>
                  <a:tcPr marL="45720" marR="45720">
                    <a:lnL w="6350" cap="flat" cmpd="sng" algn="ctr">
                      <a:solidFill>
                        <a:srgbClr val="C7D3E3"/>
                      </a:solidFill>
                      <a:prstDash val="solid"/>
                      <a:round/>
                      <a:headEnd type="none" w="med" len="med"/>
                      <a:tailEnd type="none" w="med" len="med"/>
                    </a:lnL>
                    <a:lnR w="6350" cap="flat" cmpd="sng" algn="ctr">
                      <a:solidFill>
                        <a:srgbClr val="C7D3E3"/>
                      </a:solidFill>
                      <a:prstDash val="solid"/>
                      <a:round/>
                      <a:headEnd type="none" w="med" len="med"/>
                      <a:tailEnd type="none" w="med" len="med"/>
                    </a:lnR>
                    <a:lnT w="6350" cap="flat" cmpd="sng" algn="ctr">
                      <a:solidFill>
                        <a:srgbClr val="C7D3E3"/>
                      </a:solidFill>
                      <a:prstDash val="solid"/>
                      <a:round/>
                      <a:headEnd type="none" w="med" len="med"/>
                      <a:tailEnd type="none" w="med" len="med"/>
                    </a:lnT>
                    <a:lnB w="6350" cap="flat" cmpd="sng" algn="ctr">
                      <a:solidFill>
                        <a:srgbClr val="C7D3E3"/>
                      </a:solidFill>
                      <a:prstDash val="solid"/>
                      <a:round/>
                      <a:headEnd type="none" w="med" len="med"/>
                      <a:tailEnd type="none" w="med" len="med"/>
                    </a:lnB>
                  </a:tcPr>
                </a:tc>
                <a:tc>
                  <a:txBody>
                    <a:bodyPr/>
                    <a:lstStyle/>
                    <a:p>
                      <a:pPr marL="0" indent="0">
                        <a:buNone/>
                      </a:pPr>
                      <a:r>
                        <a:rPr lang="en-US" sz="1050" b="1" dirty="0">
                          <a:solidFill>
                            <a:srgbClr val="2B3440"/>
                          </a:solidFill>
                          <a:latin typeface="Calibri" pitchFamily="34" charset="0"/>
                          <a:ea typeface="Calibri" pitchFamily="34" charset="-122"/>
                          <a:cs typeface="Calibri" pitchFamily="34" charset="-120"/>
                        </a:rPr>
                        <a:t>Valid if the assistant dead-ends</a:t>
                      </a:r>
                      <a:endParaRPr lang="en-US" sz="1050" dirty="0">
                        <a:latin typeface="Calibri" charset="0"/>
                        <a:ea typeface="Calibri" charset="0"/>
                        <a:cs typeface="Calibri" charset="0"/>
                      </a:endParaRPr>
                    </a:p>
                  </a:txBody>
                  <a:tcPr marL="45720" marR="45720">
                    <a:lnL w="6350" cap="flat" cmpd="sng" algn="ctr">
                      <a:solidFill>
                        <a:srgbClr val="C7D3E3"/>
                      </a:solidFill>
                      <a:prstDash val="solid"/>
                      <a:round/>
                      <a:headEnd type="none" w="med" len="med"/>
                      <a:tailEnd type="none" w="med" len="med"/>
                    </a:lnL>
                    <a:lnR w="6350" cap="flat" cmpd="sng" algn="ctr">
                      <a:solidFill>
                        <a:srgbClr val="C7D3E3"/>
                      </a:solidFill>
                      <a:prstDash val="solid"/>
                      <a:round/>
                      <a:headEnd type="none" w="med" len="med"/>
                      <a:tailEnd type="none" w="med" len="med"/>
                    </a:lnR>
                    <a:lnT w="6350" cap="flat" cmpd="sng" algn="ctr">
                      <a:solidFill>
                        <a:srgbClr val="C7D3E3"/>
                      </a:solidFill>
                      <a:prstDash val="solid"/>
                      <a:round/>
                      <a:headEnd type="none" w="med" len="med"/>
                      <a:tailEnd type="none" w="med" len="med"/>
                    </a:lnT>
                    <a:lnB w="6350" cap="flat" cmpd="sng" algn="ctr">
                      <a:solidFill>
                        <a:srgbClr val="C7D3E3"/>
                      </a:solidFill>
                      <a:prstDash val="solid"/>
                      <a:round/>
                      <a:headEnd type="none" w="med" len="med"/>
                      <a:tailEnd type="none" w="med" len="med"/>
                    </a:lnB>
                  </a:tcPr>
                </a:tc>
                <a:tc>
                  <a:txBody>
                    <a:bodyPr/>
                    <a:lstStyle/>
                    <a:p>
                      <a:pPr marL="0" indent="0">
                        <a:buNone/>
                      </a:pPr>
                      <a:r>
                        <a:rPr lang="en-US" sz="1050" dirty="0">
                          <a:solidFill>
                            <a:srgbClr val="2B3440"/>
                          </a:solidFill>
                          <a:latin typeface="Calibri" pitchFamily="34" charset="0"/>
                          <a:ea typeface="Calibri" pitchFamily="34" charset="-122"/>
                          <a:cs typeface="Calibri" pitchFamily="34" charset="-120"/>
                        </a:rPr>
                        <a:t>Redirect to the right Vantage page, a structured service request, or a person. Never a dead end.</a:t>
                      </a:r>
                      <a:endParaRPr lang="en-US" sz="1050" dirty="0">
                        <a:latin typeface="Calibri" charset="0"/>
                        <a:ea typeface="Calibri" charset="0"/>
                        <a:cs typeface="Calibri" charset="0"/>
                      </a:endParaRPr>
                    </a:p>
                  </a:txBody>
                  <a:tcPr marL="45720" marR="45720">
                    <a:lnL w="6350" cap="flat" cmpd="sng" algn="ctr">
                      <a:solidFill>
                        <a:srgbClr val="C7D3E3"/>
                      </a:solidFill>
                      <a:prstDash val="solid"/>
                      <a:round/>
                      <a:headEnd type="none" w="med" len="med"/>
                      <a:tailEnd type="none" w="med" len="med"/>
                    </a:lnL>
                    <a:lnR w="6350" cap="flat" cmpd="sng" algn="ctr">
                      <a:solidFill>
                        <a:srgbClr val="C7D3E3"/>
                      </a:solidFill>
                      <a:prstDash val="solid"/>
                      <a:round/>
                      <a:headEnd type="none" w="med" len="med"/>
                      <a:tailEnd type="none" w="med" len="med"/>
                    </a:lnR>
                    <a:lnT w="6350" cap="flat" cmpd="sng" algn="ctr">
                      <a:solidFill>
                        <a:srgbClr val="C7D3E3"/>
                      </a:solidFill>
                      <a:prstDash val="solid"/>
                      <a:round/>
                      <a:headEnd type="none" w="med" len="med"/>
                      <a:tailEnd type="none" w="med" len="med"/>
                    </a:lnT>
                    <a:lnB w="6350" cap="flat" cmpd="sng" algn="ctr">
                      <a:solidFill>
                        <a:srgbClr val="C7D3E3"/>
                      </a:solidFill>
                      <a:prstDash val="solid"/>
                      <a:round/>
                      <a:headEnd type="none" w="med" len="med"/>
                      <a:tailEnd type="none" w="med" len="med"/>
                    </a:lnB>
                  </a:tcPr>
                </a:tc>
                <a:extLst>
                  <a:ext uri="{0D108BD9-81ED-4DB2-BD59-A6C34878D82A}">
                    <a16:rowId xmlns:a16="http://schemas.microsoft.com/office/drawing/2014/main" val="10001"/>
                  </a:ext>
                </a:extLst>
              </a:tr>
              <a:tr h="502920">
                <a:tc>
                  <a:txBody>
                    <a:bodyPr/>
                    <a:lstStyle/>
                    <a:p>
                      <a:pPr marL="0" indent="0">
                        <a:buNone/>
                      </a:pPr>
                      <a:r>
                        <a:rPr lang="en-US" sz="1050" dirty="0">
                          <a:solidFill>
                            <a:srgbClr val="2B3440"/>
                          </a:solidFill>
                          <a:latin typeface="Calibri" pitchFamily="34" charset="0"/>
                          <a:ea typeface="Calibri" pitchFamily="34" charset="-122"/>
                          <a:cs typeface="Calibri" pitchFamily="34" charset="-120"/>
                        </a:rPr>
                        <a:t>Exception visibility prompts inquiries</a:t>
                      </a:r>
                      <a:endParaRPr lang="en-US" sz="1050" dirty="0">
                        <a:latin typeface="Calibri" charset="0"/>
                        <a:ea typeface="Calibri" charset="0"/>
                        <a:cs typeface="Calibri" charset="0"/>
                      </a:endParaRPr>
                    </a:p>
                  </a:txBody>
                  <a:tcPr marL="45720" marR="45720">
                    <a:lnL w="6350" cap="flat" cmpd="sng" algn="ctr">
                      <a:solidFill>
                        <a:srgbClr val="C7D3E3"/>
                      </a:solidFill>
                      <a:prstDash val="solid"/>
                      <a:round/>
                      <a:headEnd type="none" w="med" len="med"/>
                      <a:tailEnd type="none" w="med" len="med"/>
                    </a:lnL>
                    <a:lnR w="6350" cap="flat" cmpd="sng" algn="ctr">
                      <a:solidFill>
                        <a:srgbClr val="C7D3E3"/>
                      </a:solidFill>
                      <a:prstDash val="solid"/>
                      <a:round/>
                      <a:headEnd type="none" w="med" len="med"/>
                      <a:tailEnd type="none" w="med" len="med"/>
                    </a:lnR>
                    <a:lnT w="6350" cap="flat" cmpd="sng" algn="ctr">
                      <a:solidFill>
                        <a:srgbClr val="C7D3E3"/>
                      </a:solidFill>
                      <a:prstDash val="solid"/>
                      <a:round/>
                      <a:headEnd type="none" w="med" len="med"/>
                      <a:tailEnd type="none" w="med" len="med"/>
                    </a:lnT>
                    <a:lnB w="6350" cap="flat" cmpd="sng" algn="ctr">
                      <a:solidFill>
                        <a:srgbClr val="C7D3E3"/>
                      </a:solidFill>
                      <a:prstDash val="solid"/>
                      <a:round/>
                      <a:headEnd type="none" w="med" len="med"/>
                      <a:tailEnd type="none" w="med" len="med"/>
                    </a:lnB>
                  </a:tcPr>
                </a:tc>
                <a:tc>
                  <a:txBody>
                    <a:bodyPr/>
                    <a:lstStyle/>
                    <a:p>
                      <a:pPr marL="0" indent="0">
                        <a:buNone/>
                      </a:pPr>
                      <a:r>
                        <a:rPr lang="en-US" sz="1050" b="1" dirty="0">
                          <a:solidFill>
                            <a:srgbClr val="2B3440"/>
                          </a:solidFill>
                          <a:latin typeface="Calibri" pitchFamily="34" charset="0"/>
                          <a:ea typeface="Calibri" pitchFamily="34" charset="-122"/>
                          <a:cs typeface="Calibri" pitchFamily="34" charset="-120"/>
                        </a:rPr>
                        <a:t>Valid for exceptions; unlikely for plain status</a:t>
                      </a:r>
                      <a:endParaRPr lang="en-US" sz="1050" dirty="0">
                        <a:latin typeface="Calibri" charset="0"/>
                        <a:ea typeface="Calibri" charset="0"/>
                        <a:cs typeface="Calibri" charset="0"/>
                      </a:endParaRPr>
                    </a:p>
                  </a:txBody>
                  <a:tcPr marL="45720" marR="45720">
                    <a:lnL w="6350" cap="flat" cmpd="sng" algn="ctr">
                      <a:solidFill>
                        <a:srgbClr val="C7D3E3"/>
                      </a:solidFill>
                      <a:prstDash val="solid"/>
                      <a:round/>
                      <a:headEnd type="none" w="med" len="med"/>
                      <a:tailEnd type="none" w="med" len="med"/>
                    </a:lnL>
                    <a:lnR w="6350" cap="flat" cmpd="sng" algn="ctr">
                      <a:solidFill>
                        <a:srgbClr val="C7D3E3"/>
                      </a:solidFill>
                      <a:prstDash val="solid"/>
                      <a:round/>
                      <a:headEnd type="none" w="med" len="med"/>
                      <a:tailEnd type="none" w="med" len="med"/>
                    </a:lnR>
                    <a:lnT w="6350" cap="flat" cmpd="sng" algn="ctr">
                      <a:solidFill>
                        <a:srgbClr val="C7D3E3"/>
                      </a:solidFill>
                      <a:prstDash val="solid"/>
                      <a:round/>
                      <a:headEnd type="none" w="med" len="med"/>
                      <a:tailEnd type="none" w="med" len="med"/>
                    </a:lnT>
                    <a:lnB w="6350" cap="flat" cmpd="sng" algn="ctr">
                      <a:solidFill>
                        <a:srgbClr val="C7D3E3"/>
                      </a:solidFill>
                      <a:prstDash val="solid"/>
                      <a:round/>
                      <a:headEnd type="none" w="med" len="med"/>
                      <a:tailEnd type="none" w="med" len="med"/>
                    </a:lnB>
                  </a:tcPr>
                </a:tc>
                <a:tc>
                  <a:txBody>
                    <a:bodyPr/>
                    <a:lstStyle/>
                    <a:p>
                      <a:pPr marL="0" indent="0">
                        <a:buNone/>
                      </a:pPr>
                      <a:r>
                        <a:rPr lang="en-US" sz="1050" dirty="0">
                          <a:solidFill>
                            <a:srgbClr val="2B3440"/>
                          </a:solidFill>
                          <a:latin typeface="Calibri" pitchFamily="34" charset="0"/>
                          <a:ea typeface="Calibri" pitchFamily="34" charset="-122"/>
                          <a:cs typeface="Calibri" pitchFamily="34" charset="-120"/>
                        </a:rPr>
                        <a:t>Wire transaction data out of Phase 1. Status before exceptions in Phase 2, each with its own test.</a:t>
                      </a:r>
                      <a:endParaRPr lang="en-US" sz="1050" dirty="0">
                        <a:latin typeface="Calibri" charset="0"/>
                        <a:ea typeface="Calibri" charset="0"/>
                        <a:cs typeface="Calibri" charset="0"/>
                      </a:endParaRPr>
                    </a:p>
                  </a:txBody>
                  <a:tcPr marL="45720" marR="45720">
                    <a:lnL w="6350" cap="flat" cmpd="sng" algn="ctr">
                      <a:solidFill>
                        <a:srgbClr val="C7D3E3"/>
                      </a:solidFill>
                      <a:prstDash val="solid"/>
                      <a:round/>
                      <a:headEnd type="none" w="med" len="med"/>
                      <a:tailEnd type="none" w="med" len="med"/>
                    </a:lnL>
                    <a:lnR w="6350" cap="flat" cmpd="sng" algn="ctr">
                      <a:solidFill>
                        <a:srgbClr val="C7D3E3"/>
                      </a:solidFill>
                      <a:prstDash val="solid"/>
                      <a:round/>
                      <a:headEnd type="none" w="med" len="med"/>
                      <a:tailEnd type="none" w="med" len="med"/>
                    </a:lnR>
                    <a:lnT w="6350" cap="flat" cmpd="sng" algn="ctr">
                      <a:solidFill>
                        <a:srgbClr val="C7D3E3"/>
                      </a:solidFill>
                      <a:prstDash val="solid"/>
                      <a:round/>
                      <a:headEnd type="none" w="med" len="med"/>
                      <a:tailEnd type="none" w="med" len="med"/>
                    </a:lnT>
                    <a:lnB w="6350" cap="flat" cmpd="sng" algn="ctr">
                      <a:solidFill>
                        <a:srgbClr val="C7D3E3"/>
                      </a:solidFill>
                      <a:prstDash val="solid"/>
                      <a:round/>
                      <a:headEnd type="none" w="med" len="med"/>
                      <a:tailEnd type="none" w="med" len="med"/>
                    </a:lnB>
                  </a:tcPr>
                </a:tc>
                <a:extLst>
                  <a:ext uri="{0D108BD9-81ED-4DB2-BD59-A6C34878D82A}">
                    <a16:rowId xmlns:a16="http://schemas.microsoft.com/office/drawing/2014/main" val="10002"/>
                  </a:ext>
                </a:extLst>
              </a:tr>
              <a:tr h="502920">
                <a:tc>
                  <a:txBody>
                    <a:bodyPr/>
                    <a:lstStyle/>
                    <a:p>
                      <a:pPr marL="0" indent="0">
                        <a:buNone/>
                      </a:pPr>
                      <a:r>
                        <a:rPr lang="en-US" sz="1050" dirty="0">
                          <a:solidFill>
                            <a:srgbClr val="2B3440"/>
                          </a:solidFill>
                          <a:latin typeface="Calibri" pitchFamily="34" charset="0"/>
                          <a:ea typeface="Calibri" pitchFamily="34" charset="-122"/>
                          <a:cs typeface="Calibri" pitchFamily="34" charset="-120"/>
                        </a:rPr>
                        <a:t>A new channel adds demand</a:t>
                      </a:r>
                      <a:endParaRPr lang="en-US" sz="1050" dirty="0">
                        <a:latin typeface="Calibri" charset="0"/>
                        <a:ea typeface="Calibri" charset="0"/>
                        <a:cs typeface="Calibri" charset="0"/>
                      </a:endParaRPr>
                    </a:p>
                  </a:txBody>
                  <a:tcPr marL="45720" marR="45720">
                    <a:lnL w="6350" cap="flat" cmpd="sng" algn="ctr">
                      <a:solidFill>
                        <a:srgbClr val="C7D3E3"/>
                      </a:solidFill>
                      <a:prstDash val="solid"/>
                      <a:round/>
                      <a:headEnd type="none" w="med" len="med"/>
                      <a:tailEnd type="none" w="med" len="med"/>
                    </a:lnL>
                    <a:lnR w="6350" cap="flat" cmpd="sng" algn="ctr">
                      <a:solidFill>
                        <a:srgbClr val="C7D3E3"/>
                      </a:solidFill>
                      <a:prstDash val="solid"/>
                      <a:round/>
                      <a:headEnd type="none" w="med" len="med"/>
                      <a:tailEnd type="none" w="med" len="med"/>
                    </a:lnR>
                    <a:lnT w="6350" cap="flat" cmpd="sng" algn="ctr">
                      <a:solidFill>
                        <a:srgbClr val="C7D3E3"/>
                      </a:solidFill>
                      <a:prstDash val="solid"/>
                      <a:round/>
                      <a:headEnd type="none" w="med" len="med"/>
                      <a:tailEnd type="none" w="med" len="med"/>
                    </a:lnT>
                    <a:lnB w="6350" cap="flat" cmpd="sng" algn="ctr">
                      <a:solidFill>
                        <a:srgbClr val="C7D3E3"/>
                      </a:solidFill>
                      <a:prstDash val="solid"/>
                      <a:round/>
                      <a:headEnd type="none" w="med" len="med"/>
                      <a:tailEnd type="none" w="med" len="med"/>
                    </a:lnB>
                  </a:tcPr>
                </a:tc>
                <a:tc>
                  <a:txBody>
                    <a:bodyPr/>
                    <a:lstStyle/>
                    <a:p>
                      <a:pPr marL="0" indent="0">
                        <a:buNone/>
                      </a:pPr>
                      <a:r>
                        <a:rPr lang="en-US" sz="1050" b="1" dirty="0">
                          <a:solidFill>
                            <a:srgbClr val="2B3440"/>
                          </a:solidFill>
                          <a:latin typeface="Calibri" pitchFamily="34" charset="0"/>
                          <a:ea typeface="Calibri" pitchFamily="34" charset="-122"/>
                          <a:cs typeface="Calibri" pitchFamily="34" charset="-120"/>
                        </a:rPr>
                        <a:t>Weak on its own</a:t>
                      </a:r>
                      <a:endParaRPr lang="en-US" sz="1050" dirty="0">
                        <a:latin typeface="Calibri" charset="0"/>
                        <a:ea typeface="Calibri" charset="0"/>
                        <a:cs typeface="Calibri" charset="0"/>
                      </a:endParaRPr>
                    </a:p>
                  </a:txBody>
                  <a:tcPr marL="45720" marR="45720">
                    <a:lnL w="6350" cap="flat" cmpd="sng" algn="ctr">
                      <a:solidFill>
                        <a:srgbClr val="C7D3E3"/>
                      </a:solidFill>
                      <a:prstDash val="solid"/>
                      <a:round/>
                      <a:headEnd type="none" w="med" len="med"/>
                      <a:tailEnd type="none" w="med" len="med"/>
                    </a:lnL>
                    <a:lnR w="6350" cap="flat" cmpd="sng" algn="ctr">
                      <a:solidFill>
                        <a:srgbClr val="C7D3E3"/>
                      </a:solidFill>
                      <a:prstDash val="solid"/>
                      <a:round/>
                      <a:headEnd type="none" w="med" len="med"/>
                      <a:tailEnd type="none" w="med" len="med"/>
                    </a:lnR>
                    <a:lnT w="6350" cap="flat" cmpd="sng" algn="ctr">
                      <a:solidFill>
                        <a:srgbClr val="C7D3E3"/>
                      </a:solidFill>
                      <a:prstDash val="solid"/>
                      <a:round/>
                      <a:headEnd type="none" w="med" len="med"/>
                      <a:tailEnd type="none" w="med" len="med"/>
                    </a:lnT>
                    <a:lnB w="6350" cap="flat" cmpd="sng" algn="ctr">
                      <a:solidFill>
                        <a:srgbClr val="C7D3E3"/>
                      </a:solidFill>
                      <a:prstDash val="solid"/>
                      <a:round/>
                      <a:headEnd type="none" w="med" len="med"/>
                      <a:tailEnd type="none" w="med" len="med"/>
                    </a:lnB>
                  </a:tcPr>
                </a:tc>
                <a:tc>
                  <a:txBody>
                    <a:bodyPr/>
                    <a:lstStyle/>
                    <a:p>
                      <a:pPr marL="0" indent="0">
                        <a:buNone/>
                      </a:pPr>
                      <a:r>
                        <a:rPr lang="en-US" sz="1050" dirty="0">
                          <a:solidFill>
                            <a:srgbClr val="2B3440"/>
                          </a:solidFill>
                          <a:latin typeface="Calibri" pitchFamily="34" charset="0"/>
                          <a:ea typeface="Calibri" pitchFamily="34" charset="-122"/>
                          <a:cs typeface="Calibri" pitchFamily="34" charset="-120"/>
                        </a:rPr>
                        <a:t>BofA, DBS, JPMorgan and Citi all run one. Kill switch, intent toggles, joint governance.</a:t>
                      </a:r>
                      <a:endParaRPr lang="en-US" sz="1050" dirty="0">
                        <a:latin typeface="Calibri" charset="0"/>
                        <a:ea typeface="Calibri" charset="0"/>
                        <a:cs typeface="Calibri" charset="0"/>
                      </a:endParaRPr>
                    </a:p>
                  </a:txBody>
                  <a:tcPr marL="45720" marR="45720">
                    <a:lnL w="6350" cap="flat" cmpd="sng" algn="ctr">
                      <a:solidFill>
                        <a:srgbClr val="C7D3E3"/>
                      </a:solidFill>
                      <a:prstDash val="solid"/>
                      <a:round/>
                      <a:headEnd type="none" w="med" len="med"/>
                      <a:tailEnd type="none" w="med" len="med"/>
                    </a:lnL>
                    <a:lnR w="6350" cap="flat" cmpd="sng" algn="ctr">
                      <a:solidFill>
                        <a:srgbClr val="C7D3E3"/>
                      </a:solidFill>
                      <a:prstDash val="solid"/>
                      <a:round/>
                      <a:headEnd type="none" w="med" len="med"/>
                      <a:tailEnd type="none" w="med" len="med"/>
                    </a:lnR>
                    <a:lnT w="6350" cap="flat" cmpd="sng" algn="ctr">
                      <a:solidFill>
                        <a:srgbClr val="C7D3E3"/>
                      </a:solidFill>
                      <a:prstDash val="solid"/>
                      <a:round/>
                      <a:headEnd type="none" w="med" len="med"/>
                      <a:tailEnd type="none" w="med" len="med"/>
                    </a:lnT>
                    <a:lnB w="6350" cap="flat" cmpd="sng" algn="ctr">
                      <a:solidFill>
                        <a:srgbClr val="C7D3E3"/>
                      </a:solidFill>
                      <a:prstDash val="solid"/>
                      <a:round/>
                      <a:headEnd type="none" w="med" len="med"/>
                      <a:tailEnd type="none" w="med" len="med"/>
                    </a:lnB>
                  </a:tcPr>
                </a:tc>
                <a:extLst>
                  <a:ext uri="{0D108BD9-81ED-4DB2-BD59-A6C34878D82A}">
                    <a16:rowId xmlns:a16="http://schemas.microsoft.com/office/drawing/2014/main" val="10003"/>
                  </a:ext>
                </a:extLst>
              </a:tr>
              <a:tr h="502920">
                <a:tc>
                  <a:txBody>
                    <a:bodyPr/>
                    <a:lstStyle/>
                    <a:p>
                      <a:pPr marL="0" indent="0">
                        <a:buNone/>
                      </a:pPr>
                      <a:r>
                        <a:rPr lang="en-US" sz="1050" dirty="0">
                          <a:solidFill>
                            <a:srgbClr val="2B3440"/>
                          </a:solidFill>
                          <a:latin typeface="Calibri" pitchFamily="34" charset="0"/>
                          <a:ea typeface="Calibri" pitchFamily="34" charset="-122"/>
                          <a:cs typeface="Calibri" pitchFamily="34" charset="-120"/>
                        </a:rPr>
                        <a:t>Expectation gap</a:t>
                      </a:r>
                      <a:endParaRPr lang="en-US" sz="1050" dirty="0">
                        <a:latin typeface="Calibri" charset="0"/>
                        <a:ea typeface="Calibri" charset="0"/>
                        <a:cs typeface="Calibri" charset="0"/>
                      </a:endParaRPr>
                    </a:p>
                  </a:txBody>
                  <a:tcPr marL="45720" marR="45720">
                    <a:lnL w="6350" cap="flat" cmpd="sng" algn="ctr">
                      <a:solidFill>
                        <a:srgbClr val="C7D3E3"/>
                      </a:solidFill>
                      <a:prstDash val="solid"/>
                      <a:round/>
                      <a:headEnd type="none" w="med" len="med"/>
                      <a:tailEnd type="none" w="med" len="med"/>
                    </a:lnL>
                    <a:lnR w="6350" cap="flat" cmpd="sng" algn="ctr">
                      <a:solidFill>
                        <a:srgbClr val="C7D3E3"/>
                      </a:solidFill>
                      <a:prstDash val="solid"/>
                      <a:round/>
                      <a:headEnd type="none" w="med" len="med"/>
                      <a:tailEnd type="none" w="med" len="med"/>
                    </a:lnR>
                    <a:lnT w="6350" cap="flat" cmpd="sng" algn="ctr">
                      <a:solidFill>
                        <a:srgbClr val="C7D3E3"/>
                      </a:solidFill>
                      <a:prstDash val="solid"/>
                      <a:round/>
                      <a:headEnd type="none" w="med" len="med"/>
                      <a:tailEnd type="none" w="med" len="med"/>
                    </a:lnT>
                    <a:lnB w="6350" cap="flat" cmpd="sng" algn="ctr">
                      <a:solidFill>
                        <a:srgbClr val="C7D3E3"/>
                      </a:solidFill>
                      <a:prstDash val="solid"/>
                      <a:round/>
                      <a:headEnd type="none" w="med" len="med"/>
                      <a:tailEnd type="none" w="med" len="med"/>
                    </a:lnB>
                  </a:tcPr>
                </a:tc>
                <a:tc>
                  <a:txBody>
                    <a:bodyPr/>
                    <a:lstStyle/>
                    <a:p>
                      <a:pPr marL="0" indent="0">
                        <a:buNone/>
                      </a:pPr>
                      <a:r>
                        <a:rPr lang="en-US" sz="1050" b="1" dirty="0">
                          <a:solidFill>
                            <a:srgbClr val="2B3440"/>
                          </a:solidFill>
                          <a:latin typeface="Calibri" pitchFamily="34" charset="0"/>
                          <a:ea typeface="Calibri" pitchFamily="34" charset="-122"/>
                          <a:cs typeface="Calibri" pitchFamily="34" charset="-120"/>
                        </a:rPr>
                        <a:t>Strongest</a:t>
                      </a:r>
                      <a:endParaRPr lang="en-US" sz="1050" dirty="0">
                        <a:latin typeface="Calibri" charset="0"/>
                        <a:ea typeface="Calibri" charset="0"/>
                        <a:cs typeface="Calibri" charset="0"/>
                      </a:endParaRPr>
                    </a:p>
                  </a:txBody>
                  <a:tcPr marL="45720" marR="45720">
                    <a:lnL w="6350" cap="flat" cmpd="sng" algn="ctr">
                      <a:solidFill>
                        <a:srgbClr val="C7D3E3"/>
                      </a:solidFill>
                      <a:prstDash val="solid"/>
                      <a:round/>
                      <a:headEnd type="none" w="med" len="med"/>
                      <a:tailEnd type="none" w="med" len="med"/>
                    </a:lnL>
                    <a:lnR w="6350" cap="flat" cmpd="sng" algn="ctr">
                      <a:solidFill>
                        <a:srgbClr val="C7D3E3"/>
                      </a:solidFill>
                      <a:prstDash val="solid"/>
                      <a:round/>
                      <a:headEnd type="none" w="med" len="med"/>
                      <a:tailEnd type="none" w="med" len="med"/>
                    </a:lnR>
                    <a:lnT w="6350" cap="flat" cmpd="sng" algn="ctr">
                      <a:solidFill>
                        <a:srgbClr val="C7D3E3"/>
                      </a:solidFill>
                      <a:prstDash val="solid"/>
                      <a:round/>
                      <a:headEnd type="none" w="med" len="med"/>
                      <a:tailEnd type="none" w="med" len="med"/>
                    </a:lnT>
                    <a:lnB w="6350" cap="flat" cmpd="sng" algn="ctr">
                      <a:solidFill>
                        <a:srgbClr val="C7D3E3"/>
                      </a:solidFill>
                      <a:prstDash val="solid"/>
                      <a:round/>
                      <a:headEnd type="none" w="med" len="med"/>
                      <a:tailEnd type="none" w="med" len="med"/>
                    </a:lnB>
                  </a:tcPr>
                </a:tc>
                <a:tc>
                  <a:txBody>
                    <a:bodyPr/>
                    <a:lstStyle/>
                    <a:p>
                      <a:pPr marL="0" indent="0">
                        <a:buNone/>
                      </a:pPr>
                      <a:r>
                        <a:rPr lang="en-US" sz="1050" dirty="0">
                          <a:solidFill>
                            <a:srgbClr val="2B3440"/>
                          </a:solidFill>
                          <a:latin typeface="Calibri" pitchFamily="34" charset="0"/>
                          <a:ea typeface="Calibri" pitchFamily="34" charset="-122"/>
                          <a:cs typeface="Calibri" pitchFamily="34" charset="-120"/>
                        </a:rPr>
                        <a:t>Help-first positioning, disclosed capability at first use, prompt chips that stay inside supported intents.</a:t>
                      </a:r>
                      <a:endParaRPr lang="en-US" sz="1050" dirty="0">
                        <a:latin typeface="Calibri" charset="0"/>
                        <a:ea typeface="Calibri" charset="0"/>
                        <a:cs typeface="Calibri" charset="0"/>
                      </a:endParaRPr>
                    </a:p>
                  </a:txBody>
                  <a:tcPr marL="45720" marR="45720">
                    <a:lnL w="6350" cap="flat" cmpd="sng" algn="ctr">
                      <a:solidFill>
                        <a:srgbClr val="C7D3E3"/>
                      </a:solidFill>
                      <a:prstDash val="solid"/>
                      <a:round/>
                      <a:headEnd type="none" w="med" len="med"/>
                      <a:tailEnd type="none" w="med" len="med"/>
                    </a:lnL>
                    <a:lnR w="6350" cap="flat" cmpd="sng" algn="ctr">
                      <a:solidFill>
                        <a:srgbClr val="C7D3E3"/>
                      </a:solidFill>
                      <a:prstDash val="solid"/>
                      <a:round/>
                      <a:headEnd type="none" w="med" len="med"/>
                      <a:tailEnd type="none" w="med" len="med"/>
                    </a:lnR>
                    <a:lnT w="6350" cap="flat" cmpd="sng" algn="ctr">
                      <a:solidFill>
                        <a:srgbClr val="C7D3E3"/>
                      </a:solidFill>
                      <a:prstDash val="solid"/>
                      <a:round/>
                      <a:headEnd type="none" w="med" len="med"/>
                      <a:tailEnd type="none" w="med" len="med"/>
                    </a:lnT>
                    <a:lnB w="6350" cap="flat" cmpd="sng" algn="ctr">
                      <a:solidFill>
                        <a:srgbClr val="C7D3E3"/>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20" name="Shape 17"/>
          <p:cNvSpPr/>
          <p:nvPr/>
        </p:nvSpPr>
        <p:spPr>
          <a:xfrm>
            <a:off x="7406640" y="3063240"/>
            <a:ext cx="4251960" cy="3154680"/>
          </a:xfrm>
          <a:prstGeom prst="roundRect">
            <a:avLst>
              <a:gd name="adj" fmla="val 2319"/>
            </a:avLst>
          </a:prstGeom>
          <a:solidFill>
            <a:srgbClr val="E8EEF6"/>
          </a:solidFill>
          <a:ln w="12700">
            <a:solidFill>
              <a:srgbClr val="E8EEF6"/>
            </a:solidFill>
            <a:prstDash val="solid"/>
          </a:ln>
        </p:spPr>
        <p:txBody>
          <a:bodyPr/>
          <a:lstStyle/>
          <a:p>
            <a:endParaRPr lang="en-US"/>
          </a:p>
        </p:txBody>
      </p:sp>
      <p:sp>
        <p:nvSpPr>
          <p:cNvPr id="21" name="Shape 18"/>
          <p:cNvSpPr/>
          <p:nvPr/>
        </p:nvSpPr>
        <p:spPr>
          <a:xfrm>
            <a:off x="7635240" y="3200400"/>
            <a:ext cx="384048" cy="384048"/>
          </a:xfrm>
          <a:prstGeom prst="ellipse">
            <a:avLst/>
          </a:prstGeom>
          <a:solidFill>
            <a:srgbClr val="E8EEF6"/>
          </a:solidFill>
          <a:ln w="12700">
            <a:solidFill>
              <a:srgbClr val="E8EEF6"/>
            </a:solidFill>
            <a:prstDash val="solid"/>
          </a:ln>
        </p:spPr>
        <p:txBody>
          <a:bodyPr/>
          <a:lstStyle/>
          <a:p>
            <a:endParaRPr lang="en-US"/>
          </a:p>
        </p:txBody>
      </p:sp>
      <p:pic>
        <p:nvPicPr>
          <p:cNvPr id="22" name="Image 0" descr="preencoded.png"/>
          <p:cNvPicPr>
            <a:picLocks noChangeAspect="1"/>
          </p:cNvPicPr>
          <p:nvPr/>
        </p:nvPicPr>
        <p:blipFill>
          <a:blip r:embed="rId3"/>
          <a:stretch>
            <a:fillRect/>
          </a:stretch>
        </p:blipFill>
        <p:spPr>
          <a:xfrm>
            <a:off x="7727412" y="3292572"/>
            <a:ext cx="199705" cy="199705"/>
          </a:xfrm>
          <a:prstGeom prst="rect">
            <a:avLst/>
          </a:prstGeom>
        </p:spPr>
      </p:pic>
      <p:sp>
        <p:nvSpPr>
          <p:cNvPr id="23" name="Text 19"/>
          <p:cNvSpPr txBox="1"/>
          <p:nvPr/>
        </p:nvSpPr>
        <p:spPr>
          <a:xfrm>
            <a:off x="8138160" y="3218688"/>
            <a:ext cx="3383280" cy="347472"/>
          </a:xfrm>
          <a:prstGeom prst="rect">
            <a:avLst/>
          </a:prstGeom>
          <a:noFill/>
          <a:ln/>
        </p:spPr>
        <p:txBody>
          <a:bodyPr wrap="square" lIns="0" tIns="0" rIns="0" bIns="0" rtlCol="0" anchor="ctr"/>
          <a:lstStyle/>
          <a:p>
            <a:pPr marL="0" indent="0">
              <a:buNone/>
            </a:pPr>
            <a:r>
              <a:rPr lang="en-US" sz="1500" b="1" dirty="0">
                <a:solidFill>
                  <a:srgbClr val="0F2D52"/>
                </a:solidFill>
                <a:latin typeface="Trebuchet MS" pitchFamily="34" charset="0"/>
                <a:ea typeface="Trebuchet MS" pitchFamily="34" charset="-122"/>
                <a:cs typeface="Trebuchet MS" pitchFamily="34" charset="-120"/>
              </a:rPr>
              <a:t>Peer precedent</a:t>
            </a:r>
            <a:endParaRPr lang="en-US" sz="1500" dirty="0"/>
          </a:p>
        </p:txBody>
      </p:sp>
      <p:sp>
        <p:nvSpPr>
          <p:cNvPr id="24" name="Text 20"/>
          <p:cNvSpPr txBox="1"/>
          <p:nvPr/>
        </p:nvSpPr>
        <p:spPr>
          <a:xfrm>
            <a:off x="7635240" y="3657600"/>
            <a:ext cx="3840480" cy="1874520"/>
          </a:xfrm>
          <a:prstGeom prst="rect">
            <a:avLst/>
          </a:prstGeom>
          <a:noFill/>
          <a:ln/>
        </p:spPr>
        <p:txBody>
          <a:bodyPr wrap="square" lIns="0" tIns="0" rIns="0" bIns="0" rtlCol="0" anchor="t"/>
          <a:lstStyle/>
          <a:p>
            <a:pPr marL="0" indent="0">
              <a:spcAft>
                <a:spcPts val="600"/>
              </a:spcAft>
              <a:buNone/>
            </a:pPr>
            <a:r>
              <a:rPr lang="en-US" sz="1100" b="1" dirty="0">
                <a:solidFill>
                  <a:srgbClr val="0F2D52"/>
                </a:solidFill>
                <a:latin typeface="Calibri" pitchFamily="34" charset="0"/>
                <a:ea typeface="Calibri" pitchFamily="34" charset="-122"/>
                <a:cs typeface="Calibri" pitchFamily="34" charset="-120"/>
              </a:rPr>
              <a:t>BofA CashPro Chat. </a:t>
            </a:r>
            <a:r>
              <a:rPr lang="en-US" sz="1100" dirty="0">
                <a:solidFill>
                  <a:srgbClr val="2B3440"/>
                </a:solidFill>
                <a:latin typeface="Calibri" pitchFamily="34" charset="0"/>
                <a:ea typeface="Calibri" pitchFamily="34" charset="-122"/>
                <a:cs typeface="Calibri" pitchFamily="34" charset="-120"/>
              </a:rPr>
              <a:t>Same data as the web, added to an existing chat channel. Approximately 65–70% of corporate clients use it; 43% containment, the rest routed to live experts in under 30 seconds; question coverage doubled in about 18 months. Company-reported; no phone-volume figure published.</a:t>
            </a:r>
            <a:endParaRPr lang="en-US" sz="1100" dirty="0"/>
          </a:p>
          <a:p>
            <a:pPr marL="0" indent="0">
              <a:spcAft>
                <a:spcPts val="600"/>
              </a:spcAft>
              <a:buNone/>
            </a:pPr>
            <a:r>
              <a:rPr lang="en-US" sz="1100" b="1" dirty="0">
                <a:solidFill>
                  <a:srgbClr val="0F2D52"/>
                </a:solidFill>
                <a:latin typeface="Calibri" pitchFamily="34" charset="0"/>
                <a:ea typeface="Calibri" pitchFamily="34" charset="-122"/>
                <a:cs typeface="Calibri" pitchFamily="34" charset="-120"/>
              </a:rPr>
              <a:t>DBS Joy. </a:t>
            </a:r>
            <a:r>
              <a:rPr lang="en-US" sz="1100" dirty="0">
                <a:solidFill>
                  <a:srgbClr val="2B3440"/>
                </a:solidFill>
                <a:latin typeface="Calibri" pitchFamily="34" charset="0"/>
                <a:ea typeface="Calibri" pitchFamily="34" charset="-122"/>
                <a:cs typeface="Calibri" pitchFamily="34" charset="-120"/>
              </a:rPr>
              <a:t>Trial to all corporate clients in nine months; approximately 7% fewer calls or emails. Company-reported, before/after.</a:t>
            </a:r>
            <a:endParaRPr lang="en-US" sz="1100" dirty="0"/>
          </a:p>
          <a:p>
            <a:pPr marL="0" indent="0">
              <a:spcAft>
                <a:spcPts val="600"/>
              </a:spcAft>
              <a:buNone/>
            </a:pPr>
            <a:r>
              <a:rPr lang="en-US" sz="1100" b="1" dirty="0">
                <a:solidFill>
                  <a:srgbClr val="0F2D52"/>
                </a:solidFill>
                <a:latin typeface="Calibri" pitchFamily="34" charset="0"/>
                <a:ea typeface="Calibri" pitchFamily="34" charset="-122"/>
                <a:cs typeface="Calibri" pitchFamily="34" charset="-120"/>
              </a:rPr>
              <a:t>No bank has published a control-group result. </a:t>
            </a:r>
            <a:r>
              <a:rPr lang="en-US" sz="1100" dirty="0">
                <a:solidFill>
                  <a:srgbClr val="2B3440"/>
                </a:solidFill>
                <a:latin typeface="Calibri" pitchFamily="34" charset="0"/>
                <a:ea typeface="Calibri" pitchFamily="34" charset="-122"/>
                <a:cs typeface="Calibri" pitchFamily="34" charset="-120"/>
              </a:rPr>
              <a:t>A holdout would make ours the first.</a:t>
            </a:r>
            <a:endParaRPr lang="en-US" sz="1100" dirty="0"/>
          </a:p>
        </p:txBody>
      </p:sp>
      <p:sp>
        <p:nvSpPr>
          <p:cNvPr id="25" name="Shape 21"/>
          <p:cNvSpPr/>
          <p:nvPr/>
        </p:nvSpPr>
        <p:spPr>
          <a:xfrm>
            <a:off x="7635240" y="5623560"/>
            <a:ext cx="3840480" cy="457200"/>
          </a:xfrm>
          <a:prstGeom prst="rect">
            <a:avLst/>
          </a:prstGeom>
          <a:solidFill>
            <a:srgbClr val="FFF4B8"/>
          </a:solidFill>
          <a:ln w="12700">
            <a:solidFill>
              <a:srgbClr val="FFF4B8"/>
            </a:solidFill>
            <a:prstDash val="solid"/>
          </a:ln>
        </p:spPr>
        <p:txBody>
          <a:bodyPr/>
          <a:lstStyle/>
          <a:p>
            <a:endParaRPr lang="en-US"/>
          </a:p>
        </p:txBody>
      </p:sp>
      <p:sp>
        <p:nvSpPr>
          <p:cNvPr id="26" name="Text 22"/>
          <p:cNvSpPr txBox="1"/>
          <p:nvPr/>
        </p:nvSpPr>
        <p:spPr>
          <a:xfrm>
            <a:off x="7726680" y="5623560"/>
            <a:ext cx="3657600" cy="457200"/>
          </a:xfrm>
          <a:prstGeom prst="rect">
            <a:avLst/>
          </a:prstGeom>
          <a:noFill/>
          <a:ln/>
        </p:spPr>
        <p:txBody>
          <a:bodyPr wrap="square" lIns="0" tIns="0" rIns="0" bIns="0" rtlCol="0" anchor="ctr"/>
          <a:lstStyle/>
          <a:p>
            <a:pPr marL="0" indent="0">
              <a:buNone/>
            </a:pPr>
            <a:r>
              <a:rPr lang="en-US" sz="1000" dirty="0">
                <a:solidFill>
                  <a:srgbClr val="2B3440"/>
                </a:solidFill>
                <a:latin typeface="Calibri" pitchFamily="34" charset="0"/>
                <a:ea typeface="Calibri" pitchFamily="34" charset="-122"/>
                <a:cs typeface="Calibri" pitchFamily="34" charset="-120"/>
              </a:rPr>
              <a:t>Our baseline (to insert): wire calls per month; share that are status, procedural and investigation inquiries.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64240" cy="640080"/>
          </a:xfrm>
          <a:prstGeom prst="rect">
            <a:avLst/>
          </a:prstGeom>
          <a:noFill/>
          <a:ln/>
        </p:spPr>
        <p:txBody>
          <a:bodyPr wrap="square" lIns="0" tIns="0" rIns="0" bIns="0" rtlCol="0" anchor="ctr"/>
          <a:lstStyle/>
          <a:p>
            <a:pPr marL="0" indent="0">
              <a:buNone/>
            </a:pPr>
            <a:r>
              <a:rPr lang="en-US" sz="2800" b="1" dirty="0">
                <a:solidFill>
                  <a:srgbClr val="0F2D52"/>
                </a:solidFill>
                <a:latin typeface="Trebuchet MS" pitchFamily="34" charset="0"/>
                <a:ea typeface="Trebuchet MS" pitchFamily="34" charset="-122"/>
                <a:cs typeface="Trebuchet MS" pitchFamily="34" charset="-120"/>
              </a:rPr>
              <a:t>Options considered</a:t>
            </a:r>
            <a:endParaRPr lang="en-US" sz="2800" dirty="0"/>
          </a:p>
        </p:txBody>
      </p:sp>
      <p:sp>
        <p:nvSpPr>
          <p:cNvPr id="3" name="Text 1"/>
          <p:cNvSpPr txBox="1"/>
          <p:nvPr/>
        </p:nvSpPr>
        <p:spPr>
          <a:xfrm>
            <a:off x="548640" y="987552"/>
            <a:ext cx="11064240" cy="365760"/>
          </a:xfrm>
          <a:prstGeom prst="rect">
            <a:avLst/>
          </a:prstGeom>
          <a:noFill/>
          <a:ln/>
        </p:spPr>
        <p:txBody>
          <a:bodyPr wrap="square" lIns="0" tIns="0" rIns="0" bIns="0" rtlCol="0" anchor="ctr"/>
          <a:lstStyle/>
          <a:p>
            <a:pPr marL="0" indent="0">
              <a:buNone/>
            </a:pPr>
            <a:r>
              <a:rPr lang="en-US" sz="1300" dirty="0">
                <a:solidFill>
                  <a:srgbClr val="5A6270"/>
                </a:solidFill>
                <a:latin typeface="Calibri" pitchFamily="34" charset="0"/>
                <a:ea typeface="Calibri" pitchFamily="34" charset="-122"/>
                <a:cs typeface="Calibri" pitchFamily="34" charset="-120"/>
              </a:rPr>
              <a:t>Five scope options. The recommendation keeps the content with the strongest deflection evidence in, and the data Payments fears most out.</a:t>
            </a:r>
            <a:endParaRPr lang="en-US" sz="1300" dirty="0"/>
          </a:p>
        </p:txBody>
      </p:sp>
      <p:sp>
        <p:nvSpPr>
          <p:cNvPr id="4" name="Text 2"/>
          <p:cNvSpPr txBox="1"/>
          <p:nvPr/>
        </p:nvSpPr>
        <p:spPr>
          <a:xfrm>
            <a:off x="548640" y="6419088"/>
            <a:ext cx="10058400" cy="274320"/>
          </a:xfrm>
          <a:prstGeom prst="rect">
            <a:avLst/>
          </a:prstGeom>
          <a:noFill/>
          <a:ln/>
        </p:spPr>
        <p:txBody>
          <a:bodyPr wrap="square" lIns="0" tIns="0" rIns="0" bIns="0" rtlCol="0" anchor="ctr"/>
          <a:lstStyle/>
          <a:p>
            <a:pPr marL="0" indent="0">
              <a:buNone/>
            </a:pPr>
            <a:r>
              <a:rPr lang="en-US" sz="900" dirty="0">
                <a:solidFill>
                  <a:srgbClr val="5A6270"/>
                </a:solidFill>
                <a:latin typeface="Calibri" pitchFamily="34" charset="0"/>
                <a:ea typeface="Calibri" pitchFamily="34" charset="-122"/>
                <a:cs typeface="Calibri" pitchFamily="34" charset="-120"/>
              </a:rPr>
              <a:t>SAFARI customer launch  |  Executive summary  |  Draft for discussion  |  Evidence labelled independent, company-reported or vendor</a:t>
            </a:r>
            <a:endParaRPr lang="en-US" sz="900" dirty="0"/>
          </a:p>
        </p:txBody>
      </p:sp>
      <p:sp>
        <p:nvSpPr>
          <p:cNvPr id="5" name="Text 3"/>
          <p:cNvSpPr txBox="1"/>
          <p:nvPr/>
        </p:nvSpPr>
        <p:spPr>
          <a:xfrm>
            <a:off x="11155680" y="6419088"/>
            <a:ext cx="502920" cy="274320"/>
          </a:xfrm>
          <a:prstGeom prst="rect">
            <a:avLst/>
          </a:prstGeom>
          <a:noFill/>
          <a:ln/>
        </p:spPr>
        <p:txBody>
          <a:bodyPr wrap="square" lIns="0" tIns="0" rIns="0" bIns="0" rtlCol="0" anchor="ctr"/>
          <a:lstStyle/>
          <a:p>
            <a:pPr marL="0" indent="0" algn="r">
              <a:buNone/>
            </a:pPr>
            <a:r>
              <a:rPr lang="en-US" sz="900" dirty="0">
                <a:solidFill>
                  <a:srgbClr val="5A6270"/>
                </a:solidFill>
                <a:latin typeface="Calibri" pitchFamily="34" charset="0"/>
                <a:ea typeface="Calibri" pitchFamily="34" charset="-122"/>
                <a:cs typeface="Calibri" pitchFamily="34" charset="-120"/>
              </a:rPr>
              <a:t>3 / 4</a:t>
            </a:r>
            <a:endParaRPr lang="en-US" sz="9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3322320"/>
        </p:xfrm>
        <a:graphic>
          <a:graphicData uri="http://schemas.openxmlformats.org/drawingml/2006/table">
            <a:tbl>
              <a:tblPr/>
              <a:tblGrid>
                <a:gridCol w="173736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gridCol w="2194560">
                  <a:extLst>
                    <a:ext uri="{9D8B030D-6E8A-4147-A177-3AD203B41FA5}">
                      <a16:colId xmlns:a16="http://schemas.microsoft.com/office/drawing/2014/main" val="20004"/>
                    </a:ext>
                  </a:extLst>
                </a:gridCol>
              </a:tblGrid>
              <a:tr h="274320">
                <a:tc>
                  <a:txBody>
                    <a:bodyPr/>
                    <a:lstStyle/>
                    <a:p>
                      <a:pPr marL="0" indent="0">
                        <a:buNone/>
                      </a:pPr>
                      <a:r>
                        <a:rPr lang="en-US" sz="1000" b="1" dirty="0">
                          <a:solidFill>
                            <a:srgbClr val="FFFFFF"/>
                          </a:solidFill>
                          <a:latin typeface="Trebuchet MS" pitchFamily="34" charset="0"/>
                          <a:ea typeface="Trebuchet MS" pitchFamily="34" charset="-122"/>
                          <a:cs typeface="Trebuchet MS" pitchFamily="34" charset="-120"/>
                        </a:rPr>
                        <a:t>Option</a:t>
                      </a:r>
                      <a:endParaRPr lang="en-US" sz="1000" dirty="0">
                        <a:latin typeface="Trebuchet MS" charset="0"/>
                        <a:ea typeface="Trebuchet MS" charset="0"/>
                        <a:cs typeface="Trebuchet MS" charset="0"/>
                      </a:endParaRPr>
                    </a:p>
                  </a:txBody>
                  <a:tcPr marL="45720" marR="45720">
                    <a:lnL w="6350" cap="flat" cmpd="sng" algn="ctr">
                      <a:solidFill>
                        <a:srgbClr val="C7D3E3"/>
                      </a:solidFill>
                      <a:prstDash val="solid"/>
                      <a:round/>
                      <a:headEnd type="none" w="med" len="med"/>
                      <a:tailEnd type="none" w="med" len="med"/>
                    </a:lnL>
                    <a:lnR w="6350" cap="flat" cmpd="sng" algn="ctr">
                      <a:solidFill>
                        <a:srgbClr val="C7D3E3"/>
                      </a:solidFill>
                      <a:prstDash val="solid"/>
                      <a:round/>
                      <a:headEnd type="none" w="med" len="med"/>
                      <a:tailEnd type="none" w="med" len="med"/>
                    </a:lnR>
                    <a:lnT w="6350" cap="flat" cmpd="sng" algn="ctr">
                      <a:solidFill>
                        <a:srgbClr val="C7D3E3"/>
                      </a:solidFill>
                      <a:prstDash val="solid"/>
                      <a:round/>
                      <a:headEnd type="none" w="med" len="med"/>
                      <a:tailEnd type="none" w="med" len="med"/>
                    </a:lnT>
                    <a:lnB w="6350" cap="flat" cmpd="sng" algn="ctr">
                      <a:solidFill>
                        <a:srgbClr val="C7D3E3"/>
                      </a:solidFill>
                      <a:prstDash val="solid"/>
                      <a:round/>
                      <a:headEnd type="none" w="med" len="med"/>
                      <a:tailEnd type="none" w="med" len="med"/>
                    </a:lnB>
                    <a:solidFill>
                      <a:srgbClr val="0F2D52"/>
                    </a:solidFill>
                  </a:tcPr>
                </a:tc>
                <a:tc>
                  <a:txBody>
                    <a:bodyPr/>
                    <a:lstStyle/>
                    <a:p>
                      <a:pPr marL="0" indent="0">
                        <a:buNone/>
                      </a:pPr>
                      <a:r>
                        <a:rPr lang="en-US" sz="1000" b="1" dirty="0">
                          <a:solidFill>
                            <a:srgbClr val="FFFFFF"/>
                          </a:solidFill>
                          <a:latin typeface="Trebuchet MS" pitchFamily="34" charset="0"/>
                          <a:ea typeface="Trebuchet MS" pitchFamily="34" charset="-122"/>
                          <a:cs typeface="Trebuchet MS" pitchFamily="34" charset="-120"/>
                        </a:rPr>
                        <a:t>Scope</a:t>
                      </a:r>
                      <a:endParaRPr lang="en-US" sz="1000" dirty="0">
                        <a:latin typeface="Trebuchet MS" charset="0"/>
                        <a:ea typeface="Trebuchet MS" charset="0"/>
                        <a:cs typeface="Trebuchet MS" charset="0"/>
                      </a:endParaRPr>
                    </a:p>
                  </a:txBody>
                  <a:tcPr marL="45720" marR="45720">
                    <a:lnL w="6350" cap="flat" cmpd="sng" algn="ctr">
                      <a:solidFill>
                        <a:srgbClr val="C7D3E3"/>
                      </a:solidFill>
                      <a:prstDash val="solid"/>
                      <a:round/>
                      <a:headEnd type="none" w="med" len="med"/>
                      <a:tailEnd type="none" w="med" len="med"/>
                    </a:lnL>
                    <a:lnR w="6350" cap="flat" cmpd="sng" algn="ctr">
                      <a:solidFill>
                        <a:srgbClr val="C7D3E3"/>
                      </a:solidFill>
                      <a:prstDash val="solid"/>
                      <a:round/>
                      <a:headEnd type="none" w="med" len="med"/>
                      <a:tailEnd type="none" w="med" len="med"/>
                    </a:lnR>
                    <a:lnT w="6350" cap="flat" cmpd="sng" algn="ctr">
                      <a:solidFill>
                        <a:srgbClr val="C7D3E3"/>
                      </a:solidFill>
                      <a:prstDash val="solid"/>
                      <a:round/>
                      <a:headEnd type="none" w="med" len="med"/>
                      <a:tailEnd type="none" w="med" len="med"/>
                    </a:lnT>
                    <a:lnB w="6350" cap="flat" cmpd="sng" algn="ctr">
                      <a:solidFill>
                        <a:srgbClr val="C7D3E3"/>
                      </a:solidFill>
                      <a:prstDash val="solid"/>
                      <a:round/>
                      <a:headEnd type="none" w="med" len="med"/>
                      <a:tailEnd type="none" w="med" len="med"/>
                    </a:lnB>
                    <a:solidFill>
                      <a:srgbClr val="0F2D52"/>
                    </a:solidFill>
                  </a:tcPr>
                </a:tc>
                <a:tc>
                  <a:txBody>
                    <a:bodyPr/>
                    <a:lstStyle/>
                    <a:p>
                      <a:pPr marL="0" indent="0">
                        <a:buNone/>
                      </a:pPr>
                      <a:r>
                        <a:rPr lang="en-US" sz="1000" b="1" dirty="0">
                          <a:solidFill>
                            <a:srgbClr val="FFFFFF"/>
                          </a:solidFill>
                          <a:latin typeface="Trebuchet MS" pitchFamily="34" charset="0"/>
                          <a:ea typeface="Trebuchet MS" pitchFamily="34" charset="-122"/>
                          <a:cs typeface="Trebuchet MS" pitchFamily="34" charset="-120"/>
                        </a:rPr>
                        <a:t>How it addresses the Payments concern</a:t>
                      </a:r>
                      <a:endParaRPr lang="en-US" sz="1000" dirty="0">
                        <a:latin typeface="Trebuchet MS" charset="0"/>
                        <a:ea typeface="Trebuchet MS" charset="0"/>
                        <a:cs typeface="Trebuchet MS" charset="0"/>
                      </a:endParaRPr>
                    </a:p>
                  </a:txBody>
                  <a:tcPr marL="45720" marR="45720">
                    <a:lnL w="6350" cap="flat" cmpd="sng" algn="ctr">
                      <a:solidFill>
                        <a:srgbClr val="C7D3E3"/>
                      </a:solidFill>
                      <a:prstDash val="solid"/>
                      <a:round/>
                      <a:headEnd type="none" w="med" len="med"/>
                      <a:tailEnd type="none" w="med" len="med"/>
                    </a:lnL>
                    <a:lnR w="6350" cap="flat" cmpd="sng" algn="ctr">
                      <a:solidFill>
                        <a:srgbClr val="C7D3E3"/>
                      </a:solidFill>
                      <a:prstDash val="solid"/>
                      <a:round/>
                      <a:headEnd type="none" w="med" len="med"/>
                      <a:tailEnd type="none" w="med" len="med"/>
                    </a:lnR>
                    <a:lnT w="6350" cap="flat" cmpd="sng" algn="ctr">
                      <a:solidFill>
                        <a:srgbClr val="C7D3E3"/>
                      </a:solidFill>
                      <a:prstDash val="solid"/>
                      <a:round/>
                      <a:headEnd type="none" w="med" len="med"/>
                      <a:tailEnd type="none" w="med" len="med"/>
                    </a:lnT>
                    <a:lnB w="6350" cap="flat" cmpd="sng" algn="ctr">
                      <a:solidFill>
                        <a:srgbClr val="C7D3E3"/>
                      </a:solidFill>
                      <a:prstDash val="solid"/>
                      <a:round/>
                      <a:headEnd type="none" w="med" len="med"/>
                      <a:tailEnd type="none" w="med" len="med"/>
                    </a:lnB>
                    <a:solidFill>
                      <a:srgbClr val="0F2D52"/>
                    </a:solidFill>
                  </a:tcPr>
                </a:tc>
                <a:tc>
                  <a:txBody>
                    <a:bodyPr/>
                    <a:lstStyle/>
                    <a:p>
                      <a:pPr marL="0" indent="0">
                        <a:buNone/>
                      </a:pPr>
                      <a:r>
                        <a:rPr lang="en-US" sz="1000" b="1" dirty="0">
                          <a:solidFill>
                            <a:srgbClr val="FFFFFF"/>
                          </a:solidFill>
                          <a:latin typeface="Trebuchet MS" pitchFamily="34" charset="0"/>
                          <a:ea typeface="Trebuchet MS" pitchFamily="34" charset="-122"/>
                          <a:cs typeface="Trebuchet MS" pitchFamily="34" charset="-120"/>
                        </a:rPr>
                        <a:t>Strategic value</a:t>
                      </a:r>
                      <a:endParaRPr lang="en-US" sz="1000" dirty="0">
                        <a:latin typeface="Trebuchet MS" charset="0"/>
                        <a:ea typeface="Trebuchet MS" charset="0"/>
                        <a:cs typeface="Trebuchet MS" charset="0"/>
                      </a:endParaRPr>
                    </a:p>
                  </a:txBody>
                  <a:tcPr marL="45720" marR="45720">
                    <a:lnL w="6350" cap="flat" cmpd="sng" algn="ctr">
                      <a:solidFill>
                        <a:srgbClr val="C7D3E3"/>
                      </a:solidFill>
                      <a:prstDash val="solid"/>
                      <a:round/>
                      <a:headEnd type="none" w="med" len="med"/>
                      <a:tailEnd type="none" w="med" len="med"/>
                    </a:lnL>
                    <a:lnR w="6350" cap="flat" cmpd="sng" algn="ctr">
                      <a:solidFill>
                        <a:srgbClr val="C7D3E3"/>
                      </a:solidFill>
                      <a:prstDash val="solid"/>
                      <a:round/>
                      <a:headEnd type="none" w="med" len="med"/>
                      <a:tailEnd type="none" w="med" len="med"/>
                    </a:lnR>
                    <a:lnT w="6350" cap="flat" cmpd="sng" algn="ctr">
                      <a:solidFill>
                        <a:srgbClr val="C7D3E3"/>
                      </a:solidFill>
                      <a:prstDash val="solid"/>
                      <a:round/>
                      <a:headEnd type="none" w="med" len="med"/>
                      <a:tailEnd type="none" w="med" len="med"/>
                    </a:lnT>
                    <a:lnB w="6350" cap="flat" cmpd="sng" algn="ctr">
                      <a:solidFill>
                        <a:srgbClr val="C7D3E3"/>
                      </a:solidFill>
                      <a:prstDash val="solid"/>
                      <a:round/>
                      <a:headEnd type="none" w="med" len="med"/>
                      <a:tailEnd type="none" w="med" len="med"/>
                    </a:lnB>
                    <a:solidFill>
                      <a:srgbClr val="0F2D52"/>
                    </a:solidFill>
                  </a:tcPr>
                </a:tc>
                <a:tc>
                  <a:txBody>
                    <a:bodyPr/>
                    <a:lstStyle/>
                    <a:p>
                      <a:pPr marL="0" indent="0">
                        <a:buNone/>
                      </a:pPr>
                      <a:r>
                        <a:rPr lang="en-US" sz="1000" b="1" dirty="0">
                          <a:solidFill>
                            <a:srgbClr val="FFFFFF"/>
                          </a:solidFill>
                          <a:latin typeface="Trebuchet MS" pitchFamily="34" charset="0"/>
                          <a:ea typeface="Trebuchet MS" pitchFamily="34" charset="-122"/>
                          <a:cs typeface="Trebuchet MS" pitchFamily="34" charset="-120"/>
                        </a:rPr>
                        <a:t>Principal risk</a:t>
                      </a:r>
                      <a:endParaRPr lang="en-US" sz="1000" dirty="0">
                        <a:latin typeface="Trebuchet MS" charset="0"/>
                        <a:ea typeface="Trebuchet MS" charset="0"/>
                        <a:cs typeface="Trebuchet MS" charset="0"/>
                      </a:endParaRPr>
                    </a:p>
                  </a:txBody>
                  <a:tcPr marL="45720" marR="45720">
                    <a:lnL w="6350" cap="flat" cmpd="sng" algn="ctr">
                      <a:solidFill>
                        <a:srgbClr val="C7D3E3"/>
                      </a:solidFill>
                      <a:prstDash val="solid"/>
                      <a:round/>
                      <a:headEnd type="none" w="med" len="med"/>
                      <a:tailEnd type="none" w="med" len="med"/>
                    </a:lnL>
                    <a:lnR w="6350" cap="flat" cmpd="sng" algn="ctr">
                      <a:solidFill>
                        <a:srgbClr val="C7D3E3"/>
                      </a:solidFill>
                      <a:prstDash val="solid"/>
                      <a:round/>
                      <a:headEnd type="none" w="med" len="med"/>
                      <a:tailEnd type="none" w="med" len="med"/>
                    </a:lnR>
                    <a:lnT w="6350" cap="flat" cmpd="sng" algn="ctr">
                      <a:solidFill>
                        <a:srgbClr val="C7D3E3"/>
                      </a:solidFill>
                      <a:prstDash val="solid"/>
                      <a:round/>
                      <a:headEnd type="none" w="med" len="med"/>
                      <a:tailEnd type="none" w="med" len="med"/>
                    </a:lnT>
                    <a:lnB w="6350" cap="flat" cmpd="sng" algn="ctr">
                      <a:solidFill>
                        <a:srgbClr val="C7D3E3"/>
                      </a:solidFill>
                      <a:prstDash val="solid"/>
                      <a:round/>
                      <a:headEnd type="none" w="med" len="med"/>
                      <a:tailEnd type="none" w="med" len="med"/>
                    </a:lnB>
                    <a:solidFill>
                      <a:srgbClr val="0F2D52"/>
                    </a:solidFill>
                  </a:tcPr>
                </a:tc>
                <a:extLst>
                  <a:ext uri="{0D108BD9-81ED-4DB2-BD59-A6C34878D82A}">
                    <a16:rowId xmlns:a16="http://schemas.microsoft.com/office/drawing/2014/main" val="10000"/>
                  </a:ext>
                </a:extLst>
              </a:tr>
              <a:tr h="566928">
                <a:tc>
                  <a:txBody>
                    <a:bodyPr/>
                    <a:lstStyle/>
                    <a:p>
                      <a:pPr marL="0" indent="0">
                        <a:buNone/>
                      </a:pPr>
                      <a:r>
                        <a:rPr lang="en-US" sz="1000" b="1" dirty="0">
                          <a:solidFill>
                            <a:srgbClr val="0F2D52"/>
                          </a:solidFill>
                          <a:latin typeface="Trebuchet MS" pitchFamily="34" charset="0"/>
                          <a:ea typeface="Trebuchet MS" pitchFamily="34" charset="-122"/>
                          <a:cs typeface="Trebuchet MS" pitchFamily="34" charset="-120"/>
                        </a:rPr>
                        <a:t>1. Defer the launch</a:t>
                      </a:r>
                      <a:endParaRPr lang="en-US" sz="1200" dirty="0"/>
                    </a:p>
                  </a:txBody>
                  <a:tcPr marL="45720" marR="45720">
                    <a:lnL w="6350" cap="flat" cmpd="sng" algn="ctr">
                      <a:solidFill>
                        <a:srgbClr val="C7D3E3"/>
                      </a:solidFill>
                      <a:prstDash val="solid"/>
                      <a:round/>
                      <a:headEnd type="none" w="med" len="med"/>
                      <a:tailEnd type="none" w="med" len="med"/>
                    </a:lnL>
                    <a:lnR w="6350" cap="flat" cmpd="sng" algn="ctr">
                      <a:solidFill>
                        <a:srgbClr val="C7D3E3"/>
                      </a:solidFill>
                      <a:prstDash val="solid"/>
                      <a:round/>
                      <a:headEnd type="none" w="med" len="med"/>
                      <a:tailEnd type="none" w="med" len="med"/>
                    </a:lnR>
                    <a:lnT w="6350" cap="flat" cmpd="sng" algn="ctr">
                      <a:solidFill>
                        <a:srgbClr val="C7D3E3"/>
                      </a:solidFill>
                      <a:prstDash val="solid"/>
                      <a:round/>
                      <a:headEnd type="none" w="med" len="med"/>
                      <a:tailEnd type="none" w="med" len="med"/>
                    </a:lnT>
                    <a:lnB w="6350" cap="flat" cmpd="sng" algn="ctr">
                      <a:solidFill>
                        <a:srgbClr val="C7D3E3"/>
                      </a:solidFill>
                      <a:prstDash val="solid"/>
                      <a:round/>
                      <a:headEnd type="none" w="med" len="med"/>
                      <a:tailEnd type="none" w="med" len="med"/>
                    </a:lnB>
                    <a:solidFill>
                      <a:srgbClr val="FFFFFF"/>
                    </a:solidFill>
                  </a:tcPr>
                </a:tc>
                <a:tc>
                  <a:txBody>
                    <a:bodyPr/>
                    <a:lstStyle/>
                    <a:p>
                      <a:pPr marL="0" indent="0">
                        <a:buNone/>
                      </a:pPr>
                      <a:r>
                        <a:rPr lang="en-US" sz="950" dirty="0">
                          <a:solidFill>
                            <a:srgbClr val="2B3440"/>
                          </a:solidFill>
                          <a:latin typeface="Calibri" pitchFamily="34" charset="0"/>
                          <a:ea typeface="Calibri" pitchFamily="34" charset="-122"/>
                          <a:cs typeface="Calibri" pitchFamily="34" charset="-120"/>
                        </a:rPr>
                        <a:t>No customer launch until the wires concern is resolved</a:t>
                      </a:r>
                      <a:endParaRPr lang="en-US" sz="950" dirty="0">
                        <a:latin typeface="Calibri" charset="0"/>
                        <a:ea typeface="Calibri" charset="0"/>
                        <a:cs typeface="Calibri" charset="0"/>
                      </a:endParaRPr>
                    </a:p>
                  </a:txBody>
                  <a:tcPr marL="45720" marR="45720">
                    <a:lnL w="6350" cap="flat" cmpd="sng" algn="ctr">
                      <a:solidFill>
                        <a:srgbClr val="C7D3E3"/>
                      </a:solidFill>
                      <a:prstDash val="solid"/>
                      <a:round/>
                      <a:headEnd type="none" w="med" len="med"/>
                      <a:tailEnd type="none" w="med" len="med"/>
                    </a:lnL>
                    <a:lnR w="6350" cap="flat" cmpd="sng" algn="ctr">
                      <a:solidFill>
                        <a:srgbClr val="C7D3E3"/>
                      </a:solidFill>
                      <a:prstDash val="solid"/>
                      <a:round/>
                      <a:headEnd type="none" w="med" len="med"/>
                      <a:tailEnd type="none" w="med" len="med"/>
                    </a:lnR>
                    <a:lnT w="6350" cap="flat" cmpd="sng" algn="ctr">
                      <a:solidFill>
                        <a:srgbClr val="C7D3E3"/>
                      </a:solidFill>
                      <a:prstDash val="solid"/>
                      <a:round/>
                      <a:headEnd type="none" w="med" len="med"/>
                      <a:tailEnd type="none" w="med" len="med"/>
                    </a:lnT>
                    <a:lnB w="6350" cap="flat" cmpd="sng" algn="ctr">
                      <a:solidFill>
                        <a:srgbClr val="C7D3E3"/>
                      </a:solidFill>
                      <a:prstDash val="solid"/>
                      <a:round/>
                      <a:headEnd type="none" w="med" len="med"/>
                      <a:tailEnd type="none" w="med" len="med"/>
                    </a:lnB>
                    <a:solidFill>
                      <a:srgbClr val="FFFFFF"/>
                    </a:solidFill>
                  </a:tcPr>
                </a:tc>
                <a:tc>
                  <a:txBody>
                    <a:bodyPr/>
                    <a:lstStyle/>
                    <a:p>
                      <a:pPr marL="0" indent="0">
                        <a:buNone/>
                      </a:pPr>
                      <a:r>
                        <a:rPr lang="en-US" sz="950" dirty="0">
                          <a:solidFill>
                            <a:srgbClr val="2B3440"/>
                          </a:solidFill>
                          <a:latin typeface="Calibri" pitchFamily="34" charset="0"/>
                          <a:ea typeface="Calibri" pitchFamily="34" charset="-122"/>
                          <a:cs typeface="Calibri" pitchFamily="34" charset="-120"/>
                        </a:rPr>
                        <a:t>Fully, by not launching</a:t>
                      </a:r>
                      <a:endParaRPr lang="en-US" sz="950" dirty="0">
                        <a:latin typeface="Calibri" charset="0"/>
                        <a:ea typeface="Calibri" charset="0"/>
                        <a:cs typeface="Calibri" charset="0"/>
                      </a:endParaRPr>
                    </a:p>
                  </a:txBody>
                  <a:tcPr marL="45720" marR="45720">
                    <a:lnL w="6350" cap="flat" cmpd="sng" algn="ctr">
                      <a:solidFill>
                        <a:srgbClr val="C7D3E3"/>
                      </a:solidFill>
                      <a:prstDash val="solid"/>
                      <a:round/>
                      <a:headEnd type="none" w="med" len="med"/>
                      <a:tailEnd type="none" w="med" len="med"/>
                    </a:lnL>
                    <a:lnR w="6350" cap="flat" cmpd="sng" algn="ctr">
                      <a:solidFill>
                        <a:srgbClr val="C7D3E3"/>
                      </a:solidFill>
                      <a:prstDash val="solid"/>
                      <a:round/>
                      <a:headEnd type="none" w="med" len="med"/>
                      <a:tailEnd type="none" w="med" len="med"/>
                    </a:lnR>
                    <a:lnT w="6350" cap="flat" cmpd="sng" algn="ctr">
                      <a:solidFill>
                        <a:srgbClr val="C7D3E3"/>
                      </a:solidFill>
                      <a:prstDash val="solid"/>
                      <a:round/>
                      <a:headEnd type="none" w="med" len="med"/>
                      <a:tailEnd type="none" w="med" len="med"/>
                    </a:lnT>
                    <a:lnB w="6350" cap="flat" cmpd="sng" algn="ctr">
                      <a:solidFill>
                        <a:srgbClr val="C7D3E3"/>
                      </a:solidFill>
                      <a:prstDash val="solid"/>
                      <a:round/>
                      <a:headEnd type="none" w="med" len="med"/>
                      <a:tailEnd type="none" w="med" len="med"/>
                    </a:lnB>
                    <a:solidFill>
                      <a:srgbClr val="FFFFFF"/>
                    </a:solidFill>
                  </a:tcPr>
                </a:tc>
                <a:tc>
                  <a:txBody>
                    <a:bodyPr/>
                    <a:lstStyle/>
                    <a:p>
                      <a:pPr marL="0" indent="0">
                        <a:buNone/>
                      </a:pPr>
                      <a:r>
                        <a:rPr lang="en-US" sz="950" dirty="0">
                          <a:solidFill>
                            <a:srgbClr val="2B3440"/>
                          </a:solidFill>
                          <a:latin typeface="Calibri" pitchFamily="34" charset="0"/>
                          <a:ea typeface="Calibri" pitchFamily="34" charset="-122"/>
                          <a:cs typeface="Calibri" pitchFamily="34" charset="-120"/>
                        </a:rPr>
                        <a:t>None now; governance approvals age; peers extend their lead</a:t>
                      </a:r>
                      <a:endParaRPr lang="en-US" sz="950" dirty="0">
                        <a:latin typeface="Calibri" charset="0"/>
                        <a:ea typeface="Calibri" charset="0"/>
                        <a:cs typeface="Calibri" charset="0"/>
                      </a:endParaRPr>
                    </a:p>
                  </a:txBody>
                  <a:tcPr marL="45720" marR="45720">
                    <a:lnL w="6350" cap="flat" cmpd="sng" algn="ctr">
                      <a:solidFill>
                        <a:srgbClr val="C7D3E3"/>
                      </a:solidFill>
                      <a:prstDash val="solid"/>
                      <a:round/>
                      <a:headEnd type="none" w="med" len="med"/>
                      <a:tailEnd type="none" w="med" len="med"/>
                    </a:lnL>
                    <a:lnR w="6350" cap="flat" cmpd="sng" algn="ctr">
                      <a:solidFill>
                        <a:srgbClr val="C7D3E3"/>
                      </a:solidFill>
                      <a:prstDash val="solid"/>
                      <a:round/>
                      <a:headEnd type="none" w="med" len="med"/>
                      <a:tailEnd type="none" w="med" len="med"/>
                    </a:lnR>
                    <a:lnT w="6350" cap="flat" cmpd="sng" algn="ctr">
                      <a:solidFill>
                        <a:srgbClr val="C7D3E3"/>
                      </a:solidFill>
                      <a:prstDash val="solid"/>
                      <a:round/>
                      <a:headEnd type="none" w="med" len="med"/>
                      <a:tailEnd type="none" w="med" len="med"/>
                    </a:lnT>
                    <a:lnB w="6350" cap="flat" cmpd="sng" algn="ctr">
                      <a:solidFill>
                        <a:srgbClr val="C7D3E3"/>
                      </a:solidFill>
                      <a:prstDash val="solid"/>
                      <a:round/>
                      <a:headEnd type="none" w="med" len="med"/>
                      <a:tailEnd type="none" w="med" len="med"/>
                    </a:lnB>
                    <a:solidFill>
                      <a:srgbClr val="FFFFFF"/>
                    </a:solidFill>
                  </a:tcPr>
                </a:tc>
                <a:tc>
                  <a:txBody>
                    <a:bodyPr/>
                    <a:lstStyle/>
                    <a:p>
                      <a:pPr marL="0" indent="0">
                        <a:buNone/>
                      </a:pPr>
                      <a:r>
                        <a:rPr lang="en-US" sz="950" dirty="0">
                          <a:solidFill>
                            <a:srgbClr val="2B3440"/>
                          </a:solidFill>
                          <a:latin typeface="Calibri" pitchFamily="34" charset="0"/>
                          <a:ea typeface="Calibri" pitchFamily="34" charset="-122"/>
                          <a:cs typeface="Calibri" pitchFamily="34" charset="-120"/>
                        </a:rPr>
                        <a:t>Cost of delay; no production learning; governance re-review</a:t>
                      </a:r>
                      <a:endParaRPr lang="en-US" sz="950" dirty="0">
                        <a:latin typeface="Calibri" charset="0"/>
                        <a:ea typeface="Calibri" charset="0"/>
                        <a:cs typeface="Calibri" charset="0"/>
                      </a:endParaRPr>
                    </a:p>
                  </a:txBody>
                  <a:tcPr marL="45720" marR="45720">
                    <a:lnL w="6350" cap="flat" cmpd="sng" algn="ctr">
                      <a:solidFill>
                        <a:srgbClr val="C7D3E3"/>
                      </a:solidFill>
                      <a:prstDash val="solid"/>
                      <a:round/>
                      <a:headEnd type="none" w="med" len="med"/>
                      <a:tailEnd type="none" w="med" len="med"/>
                    </a:lnL>
                    <a:lnR w="6350" cap="flat" cmpd="sng" algn="ctr">
                      <a:solidFill>
                        <a:srgbClr val="C7D3E3"/>
                      </a:solidFill>
                      <a:prstDash val="solid"/>
                      <a:round/>
                      <a:headEnd type="none" w="med" len="med"/>
                      <a:tailEnd type="none" w="med" len="med"/>
                    </a:lnR>
                    <a:lnT w="6350" cap="flat" cmpd="sng" algn="ctr">
                      <a:solidFill>
                        <a:srgbClr val="C7D3E3"/>
                      </a:solidFill>
                      <a:prstDash val="solid"/>
                      <a:round/>
                      <a:headEnd type="none" w="med" len="med"/>
                      <a:tailEnd type="none" w="med" len="med"/>
                    </a:lnT>
                    <a:lnB w="6350" cap="flat" cmpd="sng" algn="ctr">
                      <a:solidFill>
                        <a:srgbClr val="C7D3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buNone/>
                      </a:pPr>
                      <a:r>
                        <a:rPr lang="en-US" sz="1000" b="1" dirty="0">
                          <a:solidFill>
                            <a:srgbClr val="0F2D52"/>
                          </a:solidFill>
                          <a:latin typeface="Trebuchet MS" pitchFamily="34" charset="0"/>
                          <a:ea typeface="Trebuchet MS" pitchFamily="34" charset="-122"/>
                          <a:cs typeface="Trebuchet MS" pitchFamily="34" charset="-120"/>
                        </a:rPr>
                        <a:t>2. Full built scope</a:t>
                      </a:r>
                      <a:endParaRPr lang="en-US" sz="1200" dirty="0"/>
                    </a:p>
                  </a:txBody>
                  <a:tcPr marL="45720" marR="45720">
                    <a:lnL w="6350" cap="flat" cmpd="sng" algn="ctr">
                      <a:solidFill>
                        <a:srgbClr val="C7D3E3"/>
                      </a:solidFill>
                      <a:prstDash val="solid"/>
                      <a:round/>
                      <a:headEnd type="none" w="med" len="med"/>
                      <a:tailEnd type="none" w="med" len="med"/>
                    </a:lnL>
                    <a:lnR w="6350" cap="flat" cmpd="sng" algn="ctr">
                      <a:solidFill>
                        <a:srgbClr val="C7D3E3"/>
                      </a:solidFill>
                      <a:prstDash val="solid"/>
                      <a:round/>
                      <a:headEnd type="none" w="med" len="med"/>
                      <a:tailEnd type="none" w="med" len="med"/>
                    </a:lnR>
                    <a:lnT w="6350" cap="flat" cmpd="sng" algn="ctr">
                      <a:solidFill>
                        <a:srgbClr val="C7D3E3"/>
                      </a:solidFill>
                      <a:prstDash val="solid"/>
                      <a:round/>
                      <a:headEnd type="none" w="med" len="med"/>
                      <a:tailEnd type="none" w="med" len="med"/>
                    </a:lnT>
                    <a:lnB w="6350" cap="flat" cmpd="sng" algn="ctr">
                      <a:solidFill>
                        <a:srgbClr val="C7D3E3"/>
                      </a:solidFill>
                      <a:prstDash val="solid"/>
                      <a:round/>
                      <a:headEnd type="none" w="med" len="med"/>
                      <a:tailEnd type="none" w="med" len="med"/>
                    </a:lnB>
                    <a:solidFill>
                      <a:srgbClr val="FFFFFF"/>
                    </a:solidFill>
                  </a:tcPr>
                </a:tc>
                <a:tc>
                  <a:txBody>
                    <a:bodyPr/>
                    <a:lstStyle/>
                    <a:p>
                      <a:pPr marL="0" indent="0">
                        <a:buNone/>
                      </a:pPr>
                      <a:r>
                        <a:rPr lang="en-US" sz="950" dirty="0">
                          <a:solidFill>
                            <a:srgbClr val="2B3440"/>
                          </a:solidFill>
                          <a:latin typeface="Calibri" pitchFamily="34" charset="0"/>
                          <a:ea typeface="Calibri" pitchFamily="34" charset="-122"/>
                          <a:cs typeface="Calibri" pitchFamily="34" charset="-120"/>
                        </a:rPr>
                        <a:t>Balances, instant payments, wire data and help, service requests</a:t>
                      </a:r>
                      <a:endParaRPr lang="en-US" sz="950" dirty="0">
                        <a:latin typeface="Calibri" charset="0"/>
                        <a:ea typeface="Calibri" charset="0"/>
                        <a:cs typeface="Calibri" charset="0"/>
                      </a:endParaRPr>
                    </a:p>
                  </a:txBody>
                  <a:tcPr marL="45720" marR="45720">
                    <a:lnL w="6350" cap="flat" cmpd="sng" algn="ctr">
                      <a:solidFill>
                        <a:srgbClr val="C7D3E3"/>
                      </a:solidFill>
                      <a:prstDash val="solid"/>
                      <a:round/>
                      <a:headEnd type="none" w="med" len="med"/>
                      <a:tailEnd type="none" w="med" len="med"/>
                    </a:lnL>
                    <a:lnR w="6350" cap="flat" cmpd="sng" algn="ctr">
                      <a:solidFill>
                        <a:srgbClr val="C7D3E3"/>
                      </a:solidFill>
                      <a:prstDash val="solid"/>
                      <a:round/>
                      <a:headEnd type="none" w="med" len="med"/>
                      <a:tailEnd type="none" w="med" len="med"/>
                    </a:lnR>
                    <a:lnT w="6350" cap="flat" cmpd="sng" algn="ctr">
                      <a:solidFill>
                        <a:srgbClr val="C7D3E3"/>
                      </a:solidFill>
                      <a:prstDash val="solid"/>
                      <a:round/>
                      <a:headEnd type="none" w="med" len="med"/>
                      <a:tailEnd type="none" w="med" len="med"/>
                    </a:lnT>
                    <a:lnB w="6350" cap="flat" cmpd="sng" algn="ctr">
                      <a:solidFill>
                        <a:srgbClr val="C7D3E3"/>
                      </a:solidFill>
                      <a:prstDash val="solid"/>
                      <a:round/>
                      <a:headEnd type="none" w="med" len="med"/>
                      <a:tailEnd type="none" w="med" len="med"/>
                    </a:lnB>
                    <a:solidFill>
                      <a:srgbClr val="FFFFFF"/>
                    </a:solidFill>
                  </a:tcPr>
                </a:tc>
                <a:tc>
                  <a:txBody>
                    <a:bodyPr/>
                    <a:lstStyle/>
                    <a:p>
                      <a:pPr marL="0" indent="0">
                        <a:buNone/>
                      </a:pPr>
                      <a:r>
                        <a:rPr lang="en-US" sz="950" dirty="0">
                          <a:solidFill>
                            <a:srgbClr val="2B3440"/>
                          </a:solidFill>
                          <a:latin typeface="Calibri" pitchFamily="34" charset="0"/>
                          <a:ea typeface="Calibri" pitchFamily="34" charset="-122"/>
                          <a:cs typeface="Calibri" pitchFamily="34" charset="-120"/>
                        </a:rPr>
                        <a:t>Not addressed; relies on design mitigations only</a:t>
                      </a:r>
                      <a:endParaRPr lang="en-US" sz="950" dirty="0">
                        <a:latin typeface="Calibri" charset="0"/>
                        <a:ea typeface="Calibri" charset="0"/>
                        <a:cs typeface="Calibri" charset="0"/>
                      </a:endParaRPr>
                    </a:p>
                  </a:txBody>
                  <a:tcPr marL="45720" marR="45720">
                    <a:lnL w="6350" cap="flat" cmpd="sng" algn="ctr">
                      <a:solidFill>
                        <a:srgbClr val="C7D3E3"/>
                      </a:solidFill>
                      <a:prstDash val="solid"/>
                      <a:round/>
                      <a:headEnd type="none" w="med" len="med"/>
                      <a:tailEnd type="none" w="med" len="med"/>
                    </a:lnL>
                    <a:lnR w="6350" cap="flat" cmpd="sng" algn="ctr">
                      <a:solidFill>
                        <a:srgbClr val="C7D3E3"/>
                      </a:solidFill>
                      <a:prstDash val="solid"/>
                      <a:round/>
                      <a:headEnd type="none" w="med" len="med"/>
                      <a:tailEnd type="none" w="med" len="med"/>
                    </a:lnR>
                    <a:lnT w="6350" cap="flat" cmpd="sng" algn="ctr">
                      <a:solidFill>
                        <a:srgbClr val="C7D3E3"/>
                      </a:solidFill>
                      <a:prstDash val="solid"/>
                      <a:round/>
                      <a:headEnd type="none" w="med" len="med"/>
                      <a:tailEnd type="none" w="med" len="med"/>
                    </a:lnT>
                    <a:lnB w="6350" cap="flat" cmpd="sng" algn="ctr">
                      <a:solidFill>
                        <a:srgbClr val="C7D3E3"/>
                      </a:solidFill>
                      <a:prstDash val="solid"/>
                      <a:round/>
                      <a:headEnd type="none" w="med" len="med"/>
                      <a:tailEnd type="none" w="med" len="med"/>
                    </a:lnB>
                    <a:solidFill>
                      <a:srgbClr val="FFFFFF"/>
                    </a:solidFill>
                  </a:tcPr>
                </a:tc>
                <a:tc>
                  <a:txBody>
                    <a:bodyPr/>
                    <a:lstStyle/>
                    <a:p>
                      <a:pPr marL="0" indent="0">
                        <a:buNone/>
                      </a:pPr>
                      <a:r>
                        <a:rPr lang="en-US" sz="950" dirty="0">
                          <a:solidFill>
                            <a:srgbClr val="2B3440"/>
                          </a:solidFill>
                          <a:latin typeface="Calibri" pitchFamily="34" charset="0"/>
                          <a:ea typeface="Calibri" pitchFamily="34" charset="-122"/>
                          <a:cs typeface="Calibri" pitchFamily="34" charset="-120"/>
                        </a:rPr>
                        <a:t>Maximum learning; fastest path to the intelligence-layer roadmap</a:t>
                      </a:r>
                      <a:endParaRPr lang="en-US" sz="950" dirty="0">
                        <a:latin typeface="Calibri" charset="0"/>
                        <a:ea typeface="Calibri" charset="0"/>
                        <a:cs typeface="Calibri" charset="0"/>
                      </a:endParaRPr>
                    </a:p>
                  </a:txBody>
                  <a:tcPr marL="45720" marR="45720">
                    <a:lnL w="6350" cap="flat" cmpd="sng" algn="ctr">
                      <a:solidFill>
                        <a:srgbClr val="C7D3E3"/>
                      </a:solidFill>
                      <a:prstDash val="solid"/>
                      <a:round/>
                      <a:headEnd type="none" w="med" len="med"/>
                      <a:tailEnd type="none" w="med" len="med"/>
                    </a:lnL>
                    <a:lnR w="6350" cap="flat" cmpd="sng" algn="ctr">
                      <a:solidFill>
                        <a:srgbClr val="C7D3E3"/>
                      </a:solidFill>
                      <a:prstDash val="solid"/>
                      <a:round/>
                      <a:headEnd type="none" w="med" len="med"/>
                      <a:tailEnd type="none" w="med" len="med"/>
                    </a:lnR>
                    <a:lnT w="6350" cap="flat" cmpd="sng" algn="ctr">
                      <a:solidFill>
                        <a:srgbClr val="C7D3E3"/>
                      </a:solidFill>
                      <a:prstDash val="solid"/>
                      <a:round/>
                      <a:headEnd type="none" w="med" len="med"/>
                      <a:tailEnd type="none" w="med" len="med"/>
                    </a:lnT>
                    <a:lnB w="6350" cap="flat" cmpd="sng" algn="ctr">
                      <a:solidFill>
                        <a:srgbClr val="C7D3E3"/>
                      </a:solidFill>
                      <a:prstDash val="solid"/>
                      <a:round/>
                      <a:headEnd type="none" w="med" len="med"/>
                      <a:tailEnd type="none" w="med" len="med"/>
                    </a:lnB>
                    <a:solidFill>
                      <a:srgbClr val="FFFFFF"/>
                    </a:solidFill>
                  </a:tcPr>
                </a:tc>
                <a:tc>
                  <a:txBody>
                    <a:bodyPr/>
                    <a:lstStyle/>
                    <a:p>
                      <a:pPr marL="0" indent="0">
                        <a:buNone/>
                      </a:pPr>
                      <a:r>
                        <a:rPr lang="en-US" sz="950" dirty="0">
                          <a:solidFill>
                            <a:srgbClr val="2B3440"/>
                          </a:solidFill>
                          <a:latin typeface="Calibri" pitchFamily="34" charset="0"/>
                          <a:ea typeface="Calibri" pitchFamily="34" charset="-122"/>
                          <a:cs typeface="Calibri" pitchFamily="34" charset="-120"/>
                        </a:rPr>
                        <a:t>Exception visibility live from day one; Payments opposition; reputational exposure if wrong</a:t>
                      </a:r>
                      <a:endParaRPr lang="en-US" sz="950" dirty="0">
                        <a:latin typeface="Calibri" charset="0"/>
                        <a:ea typeface="Calibri" charset="0"/>
                        <a:cs typeface="Calibri" charset="0"/>
                      </a:endParaRPr>
                    </a:p>
                  </a:txBody>
                  <a:tcPr marL="45720" marR="45720">
                    <a:lnL w="6350" cap="flat" cmpd="sng" algn="ctr">
                      <a:solidFill>
                        <a:srgbClr val="C7D3E3"/>
                      </a:solidFill>
                      <a:prstDash val="solid"/>
                      <a:round/>
                      <a:headEnd type="none" w="med" len="med"/>
                      <a:tailEnd type="none" w="med" len="med"/>
                    </a:lnL>
                    <a:lnR w="6350" cap="flat" cmpd="sng" algn="ctr">
                      <a:solidFill>
                        <a:srgbClr val="C7D3E3"/>
                      </a:solidFill>
                      <a:prstDash val="solid"/>
                      <a:round/>
                      <a:headEnd type="none" w="med" len="med"/>
                      <a:tailEnd type="none" w="med" len="med"/>
                    </a:lnR>
                    <a:lnT w="6350" cap="flat" cmpd="sng" algn="ctr">
                      <a:solidFill>
                        <a:srgbClr val="C7D3E3"/>
                      </a:solidFill>
                      <a:prstDash val="solid"/>
                      <a:round/>
                      <a:headEnd type="none" w="med" len="med"/>
                      <a:tailEnd type="none" w="med" len="med"/>
                    </a:lnT>
                    <a:lnB w="6350" cap="flat" cmpd="sng" algn="ctr">
                      <a:solidFill>
                        <a:srgbClr val="C7D3E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a:buNone/>
                      </a:pPr>
                      <a:r>
                        <a:rPr lang="en-US" sz="1000" b="1" dirty="0">
                          <a:solidFill>
                            <a:srgbClr val="0F2D52"/>
                          </a:solidFill>
                          <a:latin typeface="Trebuchet MS" pitchFamily="34" charset="0"/>
                          <a:ea typeface="Trebuchet MS" pitchFamily="34" charset="-122"/>
                          <a:cs typeface="Trebuchet MS" pitchFamily="34" charset="-120"/>
                        </a:rPr>
                        <a:t>3. All wires out</a:t>
                      </a:r>
                      <a:endParaRPr lang="en-US" sz="1200" dirty="0"/>
                    </a:p>
                  </a:txBody>
                  <a:tcPr marL="45720" marR="45720">
                    <a:lnL w="6350" cap="flat" cmpd="sng" algn="ctr">
                      <a:solidFill>
                        <a:srgbClr val="C7D3E3"/>
                      </a:solidFill>
                      <a:prstDash val="solid"/>
                      <a:round/>
                      <a:headEnd type="none" w="med" len="med"/>
                      <a:tailEnd type="none" w="med" len="med"/>
                    </a:lnL>
                    <a:lnR w="6350" cap="flat" cmpd="sng" algn="ctr">
                      <a:solidFill>
                        <a:srgbClr val="C7D3E3"/>
                      </a:solidFill>
                      <a:prstDash val="solid"/>
                      <a:round/>
                      <a:headEnd type="none" w="med" len="med"/>
                      <a:tailEnd type="none" w="med" len="med"/>
                    </a:lnR>
                    <a:lnT w="6350" cap="flat" cmpd="sng" algn="ctr">
                      <a:solidFill>
                        <a:srgbClr val="C7D3E3"/>
                      </a:solidFill>
                      <a:prstDash val="solid"/>
                      <a:round/>
                      <a:headEnd type="none" w="med" len="med"/>
                      <a:tailEnd type="none" w="med" len="med"/>
                    </a:lnT>
                    <a:lnB w="6350" cap="flat" cmpd="sng" algn="ctr">
                      <a:solidFill>
                        <a:srgbClr val="C7D3E3"/>
                      </a:solidFill>
                      <a:prstDash val="solid"/>
                      <a:round/>
                      <a:headEnd type="none" w="med" len="med"/>
                      <a:tailEnd type="none" w="med" len="med"/>
                    </a:lnB>
                    <a:solidFill>
                      <a:srgbClr val="FFFFFF"/>
                    </a:solidFill>
                  </a:tcPr>
                </a:tc>
                <a:tc>
                  <a:txBody>
                    <a:bodyPr/>
                    <a:lstStyle/>
                    <a:p>
                      <a:pPr marL="0" indent="0">
                        <a:buNone/>
                      </a:pPr>
                      <a:r>
                        <a:rPr lang="en-US" sz="950" dirty="0">
                          <a:solidFill>
                            <a:srgbClr val="2B3440"/>
                          </a:solidFill>
                          <a:latin typeface="Calibri" pitchFamily="34" charset="0"/>
                          <a:ea typeface="Calibri" pitchFamily="34" charset="-122"/>
                          <a:cs typeface="Calibri" pitchFamily="34" charset="-120"/>
                        </a:rPr>
                        <a:t>Balances, instant payments, non-wire help, service requests</a:t>
                      </a:r>
                      <a:endParaRPr lang="en-US" sz="950" dirty="0">
                        <a:latin typeface="Calibri" charset="0"/>
                        <a:ea typeface="Calibri" charset="0"/>
                        <a:cs typeface="Calibri" charset="0"/>
                      </a:endParaRPr>
                    </a:p>
                  </a:txBody>
                  <a:tcPr marL="45720" marR="45720">
                    <a:lnL w="6350" cap="flat" cmpd="sng" algn="ctr">
                      <a:solidFill>
                        <a:srgbClr val="C7D3E3"/>
                      </a:solidFill>
                      <a:prstDash val="solid"/>
                      <a:round/>
                      <a:headEnd type="none" w="med" len="med"/>
                      <a:tailEnd type="none" w="med" len="med"/>
                    </a:lnL>
                    <a:lnR w="6350" cap="flat" cmpd="sng" algn="ctr">
                      <a:solidFill>
                        <a:srgbClr val="C7D3E3"/>
                      </a:solidFill>
                      <a:prstDash val="solid"/>
                      <a:round/>
                      <a:headEnd type="none" w="med" len="med"/>
                      <a:tailEnd type="none" w="med" len="med"/>
                    </a:lnR>
                    <a:lnT w="6350" cap="flat" cmpd="sng" algn="ctr">
                      <a:solidFill>
                        <a:srgbClr val="C7D3E3"/>
                      </a:solidFill>
                      <a:prstDash val="solid"/>
                      <a:round/>
                      <a:headEnd type="none" w="med" len="med"/>
                      <a:tailEnd type="none" w="med" len="med"/>
                    </a:lnT>
                    <a:lnB w="6350" cap="flat" cmpd="sng" algn="ctr">
                      <a:solidFill>
                        <a:srgbClr val="C7D3E3"/>
                      </a:solidFill>
                      <a:prstDash val="solid"/>
                      <a:round/>
                      <a:headEnd type="none" w="med" len="med"/>
                      <a:tailEnd type="none" w="med" len="med"/>
                    </a:lnB>
                    <a:solidFill>
                      <a:srgbClr val="FFFFFF"/>
                    </a:solidFill>
                  </a:tcPr>
                </a:tc>
                <a:tc>
                  <a:txBody>
                    <a:bodyPr/>
                    <a:lstStyle/>
                    <a:p>
                      <a:pPr marL="0" indent="0">
                        <a:buNone/>
                      </a:pPr>
                      <a:r>
                        <a:rPr lang="en-US" sz="950" dirty="0">
                          <a:solidFill>
                            <a:srgbClr val="2B3440"/>
                          </a:solidFill>
                          <a:latin typeface="Calibri" pitchFamily="34" charset="0"/>
                          <a:ea typeface="Calibri" pitchFamily="34" charset="-122"/>
                          <a:cs typeface="Calibri" pitchFamily="34" charset="-120"/>
                        </a:rPr>
                        <a:t>Removes wires entirely</a:t>
                      </a:r>
                      <a:endParaRPr lang="en-US" sz="950" dirty="0">
                        <a:latin typeface="Calibri" charset="0"/>
                        <a:ea typeface="Calibri" charset="0"/>
                        <a:cs typeface="Calibri" charset="0"/>
                      </a:endParaRPr>
                    </a:p>
                  </a:txBody>
                  <a:tcPr marL="45720" marR="45720">
                    <a:lnL w="6350" cap="flat" cmpd="sng" algn="ctr">
                      <a:solidFill>
                        <a:srgbClr val="C7D3E3"/>
                      </a:solidFill>
                      <a:prstDash val="solid"/>
                      <a:round/>
                      <a:headEnd type="none" w="med" len="med"/>
                      <a:tailEnd type="none" w="med" len="med"/>
                    </a:lnL>
                    <a:lnR w="6350" cap="flat" cmpd="sng" algn="ctr">
                      <a:solidFill>
                        <a:srgbClr val="C7D3E3"/>
                      </a:solidFill>
                      <a:prstDash val="solid"/>
                      <a:round/>
                      <a:headEnd type="none" w="med" len="med"/>
                      <a:tailEnd type="none" w="med" len="med"/>
                    </a:lnR>
                    <a:lnT w="6350" cap="flat" cmpd="sng" algn="ctr">
                      <a:solidFill>
                        <a:srgbClr val="C7D3E3"/>
                      </a:solidFill>
                      <a:prstDash val="solid"/>
                      <a:round/>
                      <a:headEnd type="none" w="med" len="med"/>
                      <a:tailEnd type="none" w="med" len="med"/>
                    </a:lnT>
                    <a:lnB w="6350" cap="flat" cmpd="sng" algn="ctr">
                      <a:solidFill>
                        <a:srgbClr val="C7D3E3"/>
                      </a:solidFill>
                      <a:prstDash val="solid"/>
                      <a:round/>
                      <a:headEnd type="none" w="med" len="med"/>
                      <a:tailEnd type="none" w="med" len="med"/>
                    </a:lnB>
                    <a:solidFill>
                      <a:srgbClr val="FFFFFF"/>
                    </a:solidFill>
                  </a:tcPr>
                </a:tc>
                <a:tc>
                  <a:txBody>
                    <a:bodyPr/>
                    <a:lstStyle/>
                    <a:p>
                      <a:pPr marL="0" indent="0">
                        <a:buNone/>
                      </a:pPr>
                      <a:r>
                        <a:rPr lang="en-US" sz="950" dirty="0">
                          <a:solidFill>
                            <a:srgbClr val="2B3440"/>
                          </a:solidFill>
                          <a:latin typeface="Calibri" pitchFamily="34" charset="0"/>
                          <a:ea typeface="Calibri" pitchFamily="34" charset="-122"/>
                          <a:cs typeface="Calibri" pitchFamily="34" charset="-120"/>
                        </a:rPr>
                        <a:t>Learning on data intents and servicing</a:t>
                      </a:r>
                      <a:endParaRPr lang="en-US" sz="950" dirty="0">
                        <a:latin typeface="Calibri" charset="0"/>
                        <a:ea typeface="Calibri" charset="0"/>
                        <a:cs typeface="Calibri" charset="0"/>
                      </a:endParaRPr>
                    </a:p>
                  </a:txBody>
                  <a:tcPr marL="45720" marR="45720">
                    <a:lnL w="6350" cap="flat" cmpd="sng" algn="ctr">
                      <a:solidFill>
                        <a:srgbClr val="C7D3E3"/>
                      </a:solidFill>
                      <a:prstDash val="solid"/>
                      <a:round/>
                      <a:headEnd type="none" w="med" len="med"/>
                      <a:tailEnd type="none" w="med" len="med"/>
                    </a:lnL>
                    <a:lnR w="6350" cap="flat" cmpd="sng" algn="ctr">
                      <a:solidFill>
                        <a:srgbClr val="C7D3E3"/>
                      </a:solidFill>
                      <a:prstDash val="solid"/>
                      <a:round/>
                      <a:headEnd type="none" w="med" len="med"/>
                      <a:tailEnd type="none" w="med" len="med"/>
                    </a:lnR>
                    <a:lnT w="6350" cap="flat" cmpd="sng" algn="ctr">
                      <a:solidFill>
                        <a:srgbClr val="C7D3E3"/>
                      </a:solidFill>
                      <a:prstDash val="solid"/>
                      <a:round/>
                      <a:headEnd type="none" w="med" len="med"/>
                      <a:tailEnd type="none" w="med" len="med"/>
                    </a:lnT>
                    <a:lnB w="6350" cap="flat" cmpd="sng" algn="ctr">
                      <a:solidFill>
                        <a:srgbClr val="C7D3E3"/>
                      </a:solidFill>
                      <a:prstDash val="solid"/>
                      <a:round/>
                      <a:headEnd type="none" w="med" len="med"/>
                      <a:tailEnd type="none" w="med" len="med"/>
                    </a:lnB>
                    <a:solidFill>
                      <a:srgbClr val="FFFFFF"/>
                    </a:solidFill>
                  </a:tcPr>
                </a:tc>
                <a:tc>
                  <a:txBody>
                    <a:bodyPr/>
                    <a:lstStyle/>
                    <a:p>
                      <a:pPr marL="0" indent="0">
                        <a:buNone/>
                      </a:pPr>
                      <a:r>
                        <a:rPr lang="en-US" sz="950" dirty="0">
                          <a:solidFill>
                            <a:srgbClr val="2B3440"/>
                          </a:solidFill>
                          <a:latin typeface="Calibri" pitchFamily="34" charset="0"/>
                          <a:ea typeface="Calibri" pitchFamily="34" charset="-122"/>
                          <a:cs typeface="Calibri" pitchFamily="34" charset="-120"/>
                        </a:rPr>
                        <a:t>Gives up wire help, the highest-deflection content; clients hit a wall on the product they call about most</a:t>
                      </a:r>
                      <a:endParaRPr lang="en-US" sz="950" dirty="0">
                        <a:latin typeface="Calibri" charset="0"/>
                        <a:ea typeface="Calibri" charset="0"/>
                        <a:cs typeface="Calibri" charset="0"/>
                      </a:endParaRPr>
                    </a:p>
                  </a:txBody>
                  <a:tcPr marL="45720" marR="45720">
                    <a:lnL w="6350" cap="flat" cmpd="sng" algn="ctr">
                      <a:solidFill>
                        <a:srgbClr val="C7D3E3"/>
                      </a:solidFill>
                      <a:prstDash val="solid"/>
                      <a:round/>
                      <a:headEnd type="none" w="med" len="med"/>
                      <a:tailEnd type="none" w="med" len="med"/>
                    </a:lnL>
                    <a:lnR w="6350" cap="flat" cmpd="sng" algn="ctr">
                      <a:solidFill>
                        <a:srgbClr val="C7D3E3"/>
                      </a:solidFill>
                      <a:prstDash val="solid"/>
                      <a:round/>
                      <a:headEnd type="none" w="med" len="med"/>
                      <a:tailEnd type="none" w="med" len="med"/>
                    </a:lnR>
                    <a:lnT w="6350" cap="flat" cmpd="sng" algn="ctr">
                      <a:solidFill>
                        <a:srgbClr val="C7D3E3"/>
                      </a:solidFill>
                      <a:prstDash val="solid"/>
                      <a:round/>
                      <a:headEnd type="none" w="med" len="med"/>
                      <a:tailEnd type="none" w="med" len="med"/>
                    </a:lnT>
                    <a:lnB w="6350" cap="flat" cmpd="sng" algn="ctr">
                      <a:solidFill>
                        <a:srgbClr val="C7D3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buNone/>
                      </a:pPr>
                      <a:r>
                        <a:rPr lang="en-US" sz="1000" b="1" dirty="0">
                          <a:solidFill>
                            <a:srgbClr val="0F2D52"/>
                          </a:solidFill>
                          <a:latin typeface="Trebuchet MS" pitchFamily="34" charset="0"/>
                          <a:ea typeface="Trebuchet MS" pitchFamily="34" charset="-122"/>
                          <a:cs typeface="Trebuchet MS" pitchFamily="34" charset="-120"/>
                        </a:rPr>
                        <a:t>4. Wire help in, wire data out</a:t>
                      </a:r>
                      <a:endParaRPr lang="en-US" sz="1200" dirty="0"/>
                    </a:p>
                  </a:txBody>
                  <a:tcPr marL="45720" marR="45720">
                    <a:lnL w="6350" cap="flat" cmpd="sng" algn="ctr">
                      <a:solidFill>
                        <a:srgbClr val="C7D3E3"/>
                      </a:solidFill>
                      <a:prstDash val="solid"/>
                      <a:round/>
                      <a:headEnd type="none" w="med" len="med"/>
                      <a:tailEnd type="none" w="med" len="med"/>
                    </a:lnL>
                    <a:lnR w="6350" cap="flat" cmpd="sng" algn="ctr">
                      <a:solidFill>
                        <a:srgbClr val="C7D3E3"/>
                      </a:solidFill>
                      <a:prstDash val="solid"/>
                      <a:round/>
                      <a:headEnd type="none" w="med" len="med"/>
                      <a:tailEnd type="none" w="med" len="med"/>
                    </a:lnR>
                    <a:lnT w="6350" cap="flat" cmpd="sng" algn="ctr">
                      <a:solidFill>
                        <a:srgbClr val="C7D3E3"/>
                      </a:solidFill>
                      <a:prstDash val="solid"/>
                      <a:round/>
                      <a:headEnd type="none" w="med" len="med"/>
                      <a:tailEnd type="none" w="med" len="med"/>
                    </a:lnT>
                    <a:lnB w="6350" cap="flat" cmpd="sng" algn="ctr">
                      <a:solidFill>
                        <a:srgbClr val="C7D3E3"/>
                      </a:solidFill>
                      <a:prstDash val="solid"/>
                      <a:round/>
                      <a:headEnd type="none" w="med" len="med"/>
                      <a:tailEnd type="none" w="med" len="med"/>
                    </a:lnB>
                    <a:solidFill>
                      <a:srgbClr val="FFFFFF"/>
                    </a:solidFill>
                  </a:tcPr>
                </a:tc>
                <a:tc>
                  <a:txBody>
                    <a:bodyPr/>
                    <a:lstStyle/>
                    <a:p>
                      <a:pPr marL="0" indent="0">
                        <a:buNone/>
                      </a:pPr>
                      <a:r>
                        <a:rPr lang="en-US" sz="950" dirty="0">
                          <a:solidFill>
                            <a:srgbClr val="2B3440"/>
                          </a:solidFill>
                          <a:latin typeface="Calibri" pitchFamily="34" charset="0"/>
                          <a:ea typeface="Calibri" pitchFamily="34" charset="-122"/>
                          <a:cs typeface="Calibri" pitchFamily="34" charset="-120"/>
                        </a:rPr>
                        <a:t>Option 3 plus wire help and non-transaction wire servicing; wire-specific requests deferred</a:t>
                      </a:r>
                      <a:endParaRPr lang="en-US" sz="950" dirty="0">
                        <a:latin typeface="Calibri" charset="0"/>
                        <a:ea typeface="Calibri" charset="0"/>
                        <a:cs typeface="Calibri" charset="0"/>
                      </a:endParaRPr>
                    </a:p>
                  </a:txBody>
                  <a:tcPr marL="45720" marR="45720">
                    <a:lnL w="6350" cap="flat" cmpd="sng" algn="ctr">
                      <a:solidFill>
                        <a:srgbClr val="C7D3E3"/>
                      </a:solidFill>
                      <a:prstDash val="solid"/>
                      <a:round/>
                      <a:headEnd type="none" w="med" len="med"/>
                      <a:tailEnd type="none" w="med" len="med"/>
                    </a:lnL>
                    <a:lnR w="6350" cap="flat" cmpd="sng" algn="ctr">
                      <a:solidFill>
                        <a:srgbClr val="C7D3E3"/>
                      </a:solidFill>
                      <a:prstDash val="solid"/>
                      <a:round/>
                      <a:headEnd type="none" w="med" len="med"/>
                      <a:tailEnd type="none" w="med" len="med"/>
                    </a:lnR>
                    <a:lnT w="6350" cap="flat" cmpd="sng" algn="ctr">
                      <a:solidFill>
                        <a:srgbClr val="C7D3E3"/>
                      </a:solidFill>
                      <a:prstDash val="solid"/>
                      <a:round/>
                      <a:headEnd type="none" w="med" len="med"/>
                      <a:tailEnd type="none" w="med" len="med"/>
                    </a:lnT>
                    <a:lnB w="6350" cap="flat" cmpd="sng" algn="ctr">
                      <a:solidFill>
                        <a:srgbClr val="C7D3E3"/>
                      </a:solidFill>
                      <a:prstDash val="solid"/>
                      <a:round/>
                      <a:headEnd type="none" w="med" len="med"/>
                      <a:tailEnd type="none" w="med" len="med"/>
                    </a:lnB>
                    <a:solidFill>
                      <a:srgbClr val="FFFFFF"/>
                    </a:solidFill>
                  </a:tcPr>
                </a:tc>
                <a:tc>
                  <a:txBody>
                    <a:bodyPr/>
                    <a:lstStyle/>
                    <a:p>
                      <a:pPr marL="0" indent="0">
                        <a:buNone/>
                      </a:pPr>
                      <a:r>
                        <a:rPr lang="en-US" sz="950" dirty="0">
                          <a:solidFill>
                            <a:srgbClr val="2B3440"/>
                          </a:solidFill>
                          <a:latin typeface="Calibri" pitchFamily="34" charset="0"/>
                          <a:ea typeface="Calibri" pitchFamily="34" charset="-122"/>
                          <a:cs typeface="Calibri" pitchFamily="34" charset="-120"/>
                        </a:rPr>
                        <a:t>Removes exception visibility; keeps procedural deflection; no ticket generator</a:t>
                      </a:r>
                      <a:endParaRPr lang="en-US" sz="950" dirty="0">
                        <a:latin typeface="Calibri" charset="0"/>
                        <a:ea typeface="Calibri" charset="0"/>
                        <a:cs typeface="Calibri" charset="0"/>
                      </a:endParaRPr>
                    </a:p>
                  </a:txBody>
                  <a:tcPr marL="45720" marR="45720">
                    <a:lnL w="6350" cap="flat" cmpd="sng" algn="ctr">
                      <a:solidFill>
                        <a:srgbClr val="C7D3E3"/>
                      </a:solidFill>
                      <a:prstDash val="solid"/>
                      <a:round/>
                      <a:headEnd type="none" w="med" len="med"/>
                      <a:tailEnd type="none" w="med" len="med"/>
                    </a:lnL>
                    <a:lnR w="6350" cap="flat" cmpd="sng" algn="ctr">
                      <a:solidFill>
                        <a:srgbClr val="C7D3E3"/>
                      </a:solidFill>
                      <a:prstDash val="solid"/>
                      <a:round/>
                      <a:headEnd type="none" w="med" len="med"/>
                      <a:tailEnd type="none" w="med" len="med"/>
                    </a:lnR>
                    <a:lnT w="6350" cap="flat" cmpd="sng" algn="ctr">
                      <a:solidFill>
                        <a:srgbClr val="C7D3E3"/>
                      </a:solidFill>
                      <a:prstDash val="solid"/>
                      <a:round/>
                      <a:headEnd type="none" w="med" len="med"/>
                      <a:tailEnd type="none" w="med" len="med"/>
                    </a:lnT>
                    <a:lnB w="6350" cap="flat" cmpd="sng" algn="ctr">
                      <a:solidFill>
                        <a:srgbClr val="C7D3E3"/>
                      </a:solidFill>
                      <a:prstDash val="solid"/>
                      <a:round/>
                      <a:headEnd type="none" w="med" len="med"/>
                      <a:tailEnd type="none" w="med" len="med"/>
                    </a:lnB>
                    <a:solidFill>
                      <a:srgbClr val="FFFFFF"/>
                    </a:solidFill>
                  </a:tcPr>
                </a:tc>
                <a:tc>
                  <a:txBody>
                    <a:bodyPr/>
                    <a:lstStyle/>
                    <a:p>
                      <a:pPr marL="0" indent="0">
                        <a:buNone/>
                      </a:pPr>
                      <a:r>
                        <a:rPr lang="en-US" sz="950" dirty="0">
                          <a:solidFill>
                            <a:srgbClr val="2B3440"/>
                          </a:solidFill>
                          <a:latin typeface="Calibri" pitchFamily="34" charset="0"/>
                          <a:ea typeface="Calibri" pitchFamily="34" charset="-122"/>
                          <a:cs typeface="Calibri" pitchFamily="34" charset="-120"/>
                        </a:rPr>
                        <a:t>Learning plus measured demand for wire data via redirect rate</a:t>
                      </a:r>
                      <a:endParaRPr lang="en-US" sz="950" dirty="0">
                        <a:latin typeface="Calibri" charset="0"/>
                        <a:ea typeface="Calibri" charset="0"/>
                        <a:cs typeface="Calibri" charset="0"/>
                      </a:endParaRPr>
                    </a:p>
                  </a:txBody>
                  <a:tcPr marL="45720" marR="45720">
                    <a:lnL w="6350" cap="flat" cmpd="sng" algn="ctr">
                      <a:solidFill>
                        <a:srgbClr val="C7D3E3"/>
                      </a:solidFill>
                      <a:prstDash val="solid"/>
                      <a:round/>
                      <a:headEnd type="none" w="med" len="med"/>
                      <a:tailEnd type="none" w="med" len="med"/>
                    </a:lnL>
                    <a:lnR w="6350" cap="flat" cmpd="sng" algn="ctr">
                      <a:solidFill>
                        <a:srgbClr val="C7D3E3"/>
                      </a:solidFill>
                      <a:prstDash val="solid"/>
                      <a:round/>
                      <a:headEnd type="none" w="med" len="med"/>
                      <a:tailEnd type="none" w="med" len="med"/>
                    </a:lnR>
                    <a:lnT w="6350" cap="flat" cmpd="sng" algn="ctr">
                      <a:solidFill>
                        <a:srgbClr val="C7D3E3"/>
                      </a:solidFill>
                      <a:prstDash val="solid"/>
                      <a:round/>
                      <a:headEnd type="none" w="med" len="med"/>
                      <a:tailEnd type="none" w="med" len="med"/>
                    </a:lnT>
                    <a:lnB w="6350" cap="flat" cmpd="sng" algn="ctr">
                      <a:solidFill>
                        <a:srgbClr val="C7D3E3"/>
                      </a:solidFill>
                      <a:prstDash val="solid"/>
                      <a:round/>
                      <a:headEnd type="none" w="med" len="med"/>
                      <a:tailEnd type="none" w="med" len="med"/>
                    </a:lnB>
                    <a:solidFill>
                      <a:srgbClr val="FFFFFF"/>
                    </a:solidFill>
                  </a:tcPr>
                </a:tc>
                <a:tc>
                  <a:txBody>
                    <a:bodyPr/>
                    <a:lstStyle/>
                    <a:p>
                      <a:pPr marL="0" indent="0">
                        <a:buNone/>
                      </a:pPr>
                      <a:r>
                        <a:rPr lang="en-US" sz="950" dirty="0">
                          <a:solidFill>
                            <a:srgbClr val="2B3440"/>
                          </a:solidFill>
                          <a:latin typeface="Calibri" pitchFamily="34" charset="0"/>
                          <a:ea typeface="Calibri" pitchFamily="34" charset="-122"/>
                          <a:cs typeface="Calibri" pitchFamily="34" charset="-120"/>
                        </a:rPr>
                        <a:t>Help-versus-data disambiguation; disclosure copy must land</a:t>
                      </a:r>
                      <a:endParaRPr lang="en-US" sz="950" dirty="0">
                        <a:latin typeface="Calibri" charset="0"/>
                        <a:ea typeface="Calibri" charset="0"/>
                        <a:cs typeface="Calibri" charset="0"/>
                      </a:endParaRPr>
                    </a:p>
                  </a:txBody>
                  <a:tcPr marL="45720" marR="45720">
                    <a:lnL w="6350" cap="flat" cmpd="sng" algn="ctr">
                      <a:solidFill>
                        <a:srgbClr val="C7D3E3"/>
                      </a:solidFill>
                      <a:prstDash val="solid"/>
                      <a:round/>
                      <a:headEnd type="none" w="med" len="med"/>
                      <a:tailEnd type="none" w="med" len="med"/>
                    </a:lnL>
                    <a:lnR w="6350" cap="flat" cmpd="sng" algn="ctr">
                      <a:solidFill>
                        <a:srgbClr val="C7D3E3"/>
                      </a:solidFill>
                      <a:prstDash val="solid"/>
                      <a:round/>
                      <a:headEnd type="none" w="med" len="med"/>
                      <a:tailEnd type="none" w="med" len="med"/>
                    </a:lnR>
                    <a:lnT w="6350" cap="flat" cmpd="sng" algn="ctr">
                      <a:solidFill>
                        <a:srgbClr val="C7D3E3"/>
                      </a:solidFill>
                      <a:prstDash val="solid"/>
                      <a:round/>
                      <a:headEnd type="none" w="med" len="med"/>
                      <a:tailEnd type="none" w="med" len="med"/>
                    </a:lnT>
                    <a:lnB w="6350" cap="flat" cmpd="sng" algn="ctr">
                      <a:solidFill>
                        <a:srgbClr val="C7D3E3"/>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58368">
                <a:tc>
                  <a:txBody>
                    <a:bodyPr/>
                    <a:lstStyle/>
                    <a:p>
                      <a:pPr marL="0" indent="0">
                        <a:buNone/>
                      </a:pPr>
                      <a:r>
                        <a:rPr lang="en-US" sz="1000" b="1" dirty="0">
                          <a:solidFill>
                            <a:srgbClr val="0F2D52"/>
                          </a:solidFill>
                          <a:latin typeface="Trebuchet MS" pitchFamily="34" charset="0"/>
                          <a:ea typeface="Trebuchet MS" pitchFamily="34" charset="-122"/>
                          <a:cs typeface="Trebuchet MS" pitchFamily="34" charset="-120"/>
                        </a:rPr>
                        <a:t>5. Help-first positioning</a:t>
                      </a:r>
                      <a:endParaRPr lang="en-US" sz="1200" dirty="0"/>
                    </a:p>
                    <a:p>
                      <a:pPr marL="0" indent="0">
                        <a:buNone/>
                      </a:pPr>
                      <a:r>
                        <a:rPr lang="en-US" sz="900" b="1" dirty="0">
                          <a:solidFill>
                            <a:srgbClr val="2E6DB4"/>
                          </a:solidFill>
                          <a:latin typeface="Calibri" pitchFamily="34" charset="0"/>
                          <a:ea typeface="Calibri" pitchFamily="34" charset="-122"/>
                          <a:cs typeface="Calibri" pitchFamily="34" charset="-120"/>
                        </a:rPr>
                        <a:t>Recommended</a:t>
                      </a:r>
                      <a:endParaRPr lang="en-US" sz="1200" dirty="0"/>
                    </a:p>
                  </a:txBody>
                  <a:tcPr marL="45720" marR="45720">
                    <a:lnL w="6350" cap="flat" cmpd="sng" algn="ctr">
                      <a:solidFill>
                        <a:srgbClr val="C7D3E3"/>
                      </a:solidFill>
                      <a:prstDash val="solid"/>
                      <a:round/>
                      <a:headEnd type="none" w="med" len="med"/>
                      <a:tailEnd type="none" w="med" len="med"/>
                    </a:lnL>
                    <a:lnR w="6350" cap="flat" cmpd="sng" algn="ctr">
                      <a:solidFill>
                        <a:srgbClr val="C7D3E3"/>
                      </a:solidFill>
                      <a:prstDash val="solid"/>
                      <a:round/>
                      <a:headEnd type="none" w="med" len="med"/>
                      <a:tailEnd type="none" w="med" len="med"/>
                    </a:lnR>
                    <a:lnT w="6350" cap="flat" cmpd="sng" algn="ctr">
                      <a:solidFill>
                        <a:srgbClr val="C7D3E3"/>
                      </a:solidFill>
                      <a:prstDash val="solid"/>
                      <a:round/>
                      <a:headEnd type="none" w="med" len="med"/>
                      <a:tailEnd type="none" w="med" len="med"/>
                    </a:lnT>
                    <a:lnB w="6350" cap="flat" cmpd="sng" algn="ctr">
                      <a:solidFill>
                        <a:srgbClr val="C7D3E3"/>
                      </a:solidFill>
                      <a:prstDash val="solid"/>
                      <a:round/>
                      <a:headEnd type="none" w="med" len="med"/>
                      <a:tailEnd type="none" w="med" len="med"/>
                    </a:lnB>
                    <a:solidFill>
                      <a:srgbClr val="E8EEF6"/>
                    </a:solidFill>
                  </a:tcPr>
                </a:tc>
                <a:tc>
                  <a:txBody>
                    <a:bodyPr/>
                    <a:lstStyle/>
                    <a:p>
                      <a:pPr marL="0" indent="0">
                        <a:buNone/>
                      </a:pPr>
                      <a:r>
                        <a:rPr lang="en-US" sz="950" dirty="0">
                          <a:solidFill>
                            <a:srgbClr val="2B3440"/>
                          </a:solidFill>
                          <a:latin typeface="Calibri" pitchFamily="34" charset="0"/>
                          <a:ea typeface="Calibri" pitchFamily="34" charset="-122"/>
                          <a:cs typeface="Calibri" pitchFamily="34" charset="-120"/>
                        </a:rPr>
                        <a:t>Option 4 scope, launched as “ask instead of reading the guide”; balances and instant payments named as secondary</a:t>
                      </a:r>
                      <a:endParaRPr lang="en-US" sz="950" dirty="0">
                        <a:latin typeface="Calibri" charset="0"/>
                        <a:ea typeface="Calibri" charset="0"/>
                        <a:cs typeface="Calibri" charset="0"/>
                      </a:endParaRPr>
                    </a:p>
                  </a:txBody>
                  <a:tcPr marL="45720" marR="45720">
                    <a:lnL w="6350" cap="flat" cmpd="sng" algn="ctr">
                      <a:solidFill>
                        <a:srgbClr val="C7D3E3"/>
                      </a:solidFill>
                      <a:prstDash val="solid"/>
                      <a:round/>
                      <a:headEnd type="none" w="med" len="med"/>
                      <a:tailEnd type="none" w="med" len="med"/>
                    </a:lnL>
                    <a:lnR w="6350" cap="flat" cmpd="sng" algn="ctr">
                      <a:solidFill>
                        <a:srgbClr val="C7D3E3"/>
                      </a:solidFill>
                      <a:prstDash val="solid"/>
                      <a:round/>
                      <a:headEnd type="none" w="med" len="med"/>
                      <a:tailEnd type="none" w="med" len="med"/>
                    </a:lnR>
                    <a:lnT w="6350" cap="flat" cmpd="sng" algn="ctr">
                      <a:solidFill>
                        <a:srgbClr val="C7D3E3"/>
                      </a:solidFill>
                      <a:prstDash val="solid"/>
                      <a:round/>
                      <a:headEnd type="none" w="med" len="med"/>
                      <a:tailEnd type="none" w="med" len="med"/>
                    </a:lnT>
                    <a:lnB w="6350" cap="flat" cmpd="sng" algn="ctr">
                      <a:solidFill>
                        <a:srgbClr val="C7D3E3"/>
                      </a:solidFill>
                      <a:prstDash val="solid"/>
                      <a:round/>
                      <a:headEnd type="none" w="med" len="med"/>
                      <a:tailEnd type="none" w="med" len="med"/>
                    </a:lnB>
                    <a:solidFill>
                      <a:srgbClr val="E8EEF6"/>
                    </a:solidFill>
                  </a:tcPr>
                </a:tc>
                <a:tc>
                  <a:txBody>
                    <a:bodyPr/>
                    <a:lstStyle/>
                    <a:p>
                      <a:pPr marL="0" indent="0">
                        <a:buNone/>
                      </a:pPr>
                      <a:r>
                        <a:rPr lang="en-US" sz="950" dirty="0">
                          <a:solidFill>
                            <a:srgbClr val="2B3440"/>
                          </a:solidFill>
                          <a:latin typeface="Calibri" pitchFamily="34" charset="0"/>
                          <a:ea typeface="Calibri" pitchFamily="34" charset="-122"/>
                          <a:cs typeface="Calibri" pitchFamily="34" charset="-120"/>
                        </a:rPr>
                        <a:t>Sets expectations before the first question; dissolves “same information as web”</a:t>
                      </a:r>
                      <a:endParaRPr lang="en-US" sz="950" dirty="0">
                        <a:latin typeface="Calibri" charset="0"/>
                        <a:ea typeface="Calibri" charset="0"/>
                        <a:cs typeface="Calibri" charset="0"/>
                      </a:endParaRPr>
                    </a:p>
                  </a:txBody>
                  <a:tcPr marL="45720" marR="45720">
                    <a:lnL w="6350" cap="flat" cmpd="sng" algn="ctr">
                      <a:solidFill>
                        <a:srgbClr val="C7D3E3"/>
                      </a:solidFill>
                      <a:prstDash val="solid"/>
                      <a:round/>
                      <a:headEnd type="none" w="med" len="med"/>
                      <a:tailEnd type="none" w="med" len="med"/>
                    </a:lnL>
                    <a:lnR w="6350" cap="flat" cmpd="sng" algn="ctr">
                      <a:solidFill>
                        <a:srgbClr val="C7D3E3"/>
                      </a:solidFill>
                      <a:prstDash val="solid"/>
                      <a:round/>
                      <a:headEnd type="none" w="med" len="med"/>
                      <a:tailEnd type="none" w="med" len="med"/>
                    </a:lnR>
                    <a:lnT w="6350" cap="flat" cmpd="sng" algn="ctr">
                      <a:solidFill>
                        <a:srgbClr val="C7D3E3"/>
                      </a:solidFill>
                      <a:prstDash val="solid"/>
                      <a:round/>
                      <a:headEnd type="none" w="med" len="med"/>
                      <a:tailEnd type="none" w="med" len="med"/>
                    </a:lnT>
                    <a:lnB w="6350" cap="flat" cmpd="sng" algn="ctr">
                      <a:solidFill>
                        <a:srgbClr val="C7D3E3"/>
                      </a:solidFill>
                      <a:prstDash val="solid"/>
                      <a:round/>
                      <a:headEnd type="none" w="med" len="med"/>
                      <a:tailEnd type="none" w="med" len="med"/>
                    </a:lnB>
                    <a:solidFill>
                      <a:srgbClr val="E8EEF6"/>
                    </a:solidFill>
                  </a:tcPr>
                </a:tc>
                <a:tc>
                  <a:txBody>
                    <a:bodyPr/>
                    <a:lstStyle/>
                    <a:p>
                      <a:pPr marL="0" indent="0">
                        <a:buNone/>
                      </a:pPr>
                      <a:r>
                        <a:rPr lang="en-US" sz="950" dirty="0">
                          <a:solidFill>
                            <a:srgbClr val="2B3440"/>
                          </a:solidFill>
                          <a:latin typeface="Calibri" pitchFamily="34" charset="0"/>
                          <a:ea typeface="Calibri" pitchFamily="34" charset="-122"/>
                          <a:cs typeface="Calibri" pitchFamily="34" charset="-120"/>
                        </a:rPr>
                        <a:t>Aims the launch at the strongest deflection evidence; safest reputational profile; same learning as Option 4</a:t>
                      </a:r>
                      <a:endParaRPr lang="en-US" sz="950" dirty="0">
                        <a:latin typeface="Calibri" charset="0"/>
                        <a:ea typeface="Calibri" charset="0"/>
                        <a:cs typeface="Calibri" charset="0"/>
                      </a:endParaRPr>
                    </a:p>
                  </a:txBody>
                  <a:tcPr marL="45720" marR="45720">
                    <a:lnL w="6350" cap="flat" cmpd="sng" algn="ctr">
                      <a:solidFill>
                        <a:srgbClr val="C7D3E3"/>
                      </a:solidFill>
                      <a:prstDash val="solid"/>
                      <a:round/>
                      <a:headEnd type="none" w="med" len="med"/>
                      <a:tailEnd type="none" w="med" len="med"/>
                    </a:lnL>
                    <a:lnR w="6350" cap="flat" cmpd="sng" algn="ctr">
                      <a:solidFill>
                        <a:srgbClr val="C7D3E3"/>
                      </a:solidFill>
                      <a:prstDash val="solid"/>
                      <a:round/>
                      <a:headEnd type="none" w="med" len="med"/>
                      <a:tailEnd type="none" w="med" len="med"/>
                    </a:lnR>
                    <a:lnT w="6350" cap="flat" cmpd="sng" algn="ctr">
                      <a:solidFill>
                        <a:srgbClr val="C7D3E3"/>
                      </a:solidFill>
                      <a:prstDash val="solid"/>
                      <a:round/>
                      <a:headEnd type="none" w="med" len="med"/>
                      <a:tailEnd type="none" w="med" len="med"/>
                    </a:lnT>
                    <a:lnB w="6350" cap="flat" cmpd="sng" algn="ctr">
                      <a:solidFill>
                        <a:srgbClr val="C7D3E3"/>
                      </a:solidFill>
                      <a:prstDash val="solid"/>
                      <a:round/>
                      <a:headEnd type="none" w="med" len="med"/>
                      <a:tailEnd type="none" w="med" len="med"/>
                    </a:lnB>
                    <a:solidFill>
                      <a:srgbClr val="E8EEF6"/>
                    </a:solidFill>
                  </a:tcPr>
                </a:tc>
                <a:tc>
                  <a:txBody>
                    <a:bodyPr/>
                    <a:lstStyle/>
                    <a:p>
                      <a:pPr marL="0" indent="0">
                        <a:buNone/>
                      </a:pPr>
                      <a:r>
                        <a:rPr lang="en-US" sz="950" dirty="0">
                          <a:solidFill>
                            <a:srgbClr val="2B3440"/>
                          </a:solidFill>
                          <a:latin typeface="Calibri" pitchFamily="34" charset="0"/>
                          <a:ea typeface="Calibri" pitchFamily="34" charset="-122"/>
                          <a:cs typeface="Calibri" pitchFamily="34" charset="-120"/>
                        </a:rPr>
                        <a:t>Anchoring as “the FAQ bot”; content accuracy becomes the critical path</a:t>
                      </a:r>
                      <a:endParaRPr lang="en-US" sz="950" dirty="0">
                        <a:latin typeface="Calibri" charset="0"/>
                        <a:ea typeface="Calibri" charset="0"/>
                        <a:cs typeface="Calibri" charset="0"/>
                      </a:endParaRPr>
                    </a:p>
                  </a:txBody>
                  <a:tcPr marL="45720" marR="45720">
                    <a:lnL w="6350" cap="flat" cmpd="sng" algn="ctr">
                      <a:solidFill>
                        <a:srgbClr val="C7D3E3"/>
                      </a:solidFill>
                      <a:prstDash val="solid"/>
                      <a:round/>
                      <a:headEnd type="none" w="med" len="med"/>
                      <a:tailEnd type="none" w="med" len="med"/>
                    </a:lnL>
                    <a:lnR w="6350" cap="flat" cmpd="sng" algn="ctr">
                      <a:solidFill>
                        <a:srgbClr val="C7D3E3"/>
                      </a:solidFill>
                      <a:prstDash val="solid"/>
                      <a:round/>
                      <a:headEnd type="none" w="med" len="med"/>
                      <a:tailEnd type="none" w="med" len="med"/>
                    </a:lnR>
                    <a:lnT w="6350" cap="flat" cmpd="sng" algn="ctr">
                      <a:solidFill>
                        <a:srgbClr val="C7D3E3"/>
                      </a:solidFill>
                      <a:prstDash val="solid"/>
                      <a:round/>
                      <a:headEnd type="none" w="med" len="med"/>
                      <a:tailEnd type="none" w="med" len="med"/>
                    </a:lnT>
                    <a:lnB w="6350" cap="flat" cmpd="sng" algn="ctr">
                      <a:solidFill>
                        <a:srgbClr val="C7D3E3"/>
                      </a:solidFill>
                      <a:prstDash val="solid"/>
                      <a:round/>
                      <a:headEnd type="none" w="med" len="med"/>
                      <a:tailEnd type="none" w="med" len="med"/>
                    </a:lnB>
                    <a:solidFill>
                      <a:srgbClr val="E8EEF6"/>
                    </a:solidFill>
                  </a:tcPr>
                </a:tc>
                <a:extLst>
                  <a:ext uri="{0D108BD9-81ED-4DB2-BD59-A6C34878D82A}">
                    <a16:rowId xmlns:a16="http://schemas.microsoft.com/office/drawing/2014/main" val="10005"/>
                  </a:ext>
                </a:extLst>
              </a:tr>
            </a:tbl>
          </a:graphicData>
        </a:graphic>
      </p:graphicFrame>
      <p:sp>
        <p:nvSpPr>
          <p:cNvPr id="7" name="Text 4"/>
          <p:cNvSpPr txBox="1"/>
          <p:nvPr/>
        </p:nvSpPr>
        <p:spPr>
          <a:xfrm>
            <a:off x="548640" y="4892040"/>
            <a:ext cx="11064240" cy="274320"/>
          </a:xfrm>
          <a:prstGeom prst="rect">
            <a:avLst/>
          </a:prstGeom>
          <a:noFill/>
          <a:ln/>
        </p:spPr>
        <p:txBody>
          <a:bodyPr wrap="square" lIns="0" tIns="0" rIns="0" bIns="0" rtlCol="0" anchor="ctr"/>
          <a:lstStyle/>
          <a:p>
            <a:pPr marL="0" indent="0">
              <a:buNone/>
            </a:pPr>
            <a:r>
              <a:rPr lang="en-US" sz="1250" b="1" dirty="0">
                <a:solidFill>
                  <a:srgbClr val="0F2D52"/>
                </a:solidFill>
                <a:latin typeface="Trebuchet MS" pitchFamily="34" charset="0"/>
                <a:ea typeface="Trebuchet MS" pitchFamily="34" charset="-122"/>
                <a:cs typeface="Trebuchet MS" pitchFamily="34" charset="-120"/>
              </a:rPr>
              <a:t>Design choices that apply to any option</a:t>
            </a:r>
            <a:endParaRPr lang="en-US" sz="1250" dirty="0"/>
          </a:p>
        </p:txBody>
      </p:sp>
      <p:sp>
        <p:nvSpPr>
          <p:cNvPr id="8" name="Shape 5"/>
          <p:cNvSpPr/>
          <p:nvPr/>
        </p:nvSpPr>
        <p:spPr>
          <a:xfrm>
            <a:off x="548640" y="5212080"/>
            <a:ext cx="3566160" cy="1051560"/>
          </a:xfrm>
          <a:prstGeom prst="roundRect">
            <a:avLst>
              <a:gd name="adj" fmla="val 6957"/>
            </a:avLst>
          </a:prstGeom>
          <a:solidFill>
            <a:srgbClr val="F4F7FB"/>
          </a:solidFill>
          <a:ln w="12700">
            <a:solidFill>
              <a:srgbClr val="F4F7FB"/>
            </a:solidFill>
            <a:prstDash val="solid"/>
          </a:ln>
        </p:spPr>
        <p:txBody>
          <a:bodyPr/>
          <a:lstStyle/>
          <a:p>
            <a:endParaRPr lang="en-US"/>
          </a:p>
        </p:txBody>
      </p:sp>
      <p:sp>
        <p:nvSpPr>
          <p:cNvPr id="9" name="Text 6"/>
          <p:cNvSpPr txBox="1"/>
          <p:nvPr/>
        </p:nvSpPr>
        <p:spPr>
          <a:xfrm>
            <a:off x="731520" y="5285232"/>
            <a:ext cx="3200400" cy="256032"/>
          </a:xfrm>
          <a:prstGeom prst="rect">
            <a:avLst/>
          </a:prstGeom>
          <a:noFill/>
          <a:ln/>
        </p:spPr>
        <p:txBody>
          <a:bodyPr wrap="square" lIns="0" tIns="0" rIns="0" bIns="0" rtlCol="0" anchor="ctr"/>
          <a:lstStyle/>
          <a:p>
            <a:pPr marL="0" indent="0">
              <a:buNone/>
            </a:pPr>
            <a:r>
              <a:rPr lang="en-US" sz="1100" b="1" dirty="0">
                <a:solidFill>
                  <a:srgbClr val="0F2D52"/>
                </a:solidFill>
                <a:latin typeface="Trebuchet MS" pitchFamily="34" charset="0"/>
                <a:ea typeface="Trebuchet MS" pitchFamily="34" charset="-122"/>
                <a:cs typeface="Trebuchet MS" pitchFamily="34" charset="-120"/>
              </a:rPr>
              <a:t>Rollout: cohort with holdout</a:t>
            </a:r>
            <a:endParaRPr lang="en-US" sz="1100" dirty="0"/>
          </a:p>
        </p:txBody>
      </p:sp>
      <p:sp>
        <p:nvSpPr>
          <p:cNvPr id="10" name="Text 7"/>
          <p:cNvSpPr txBox="1"/>
          <p:nvPr/>
        </p:nvSpPr>
        <p:spPr>
          <a:xfrm>
            <a:off x="731520" y="5550408"/>
            <a:ext cx="3200400" cy="658368"/>
          </a:xfrm>
          <a:prstGeom prst="rect">
            <a:avLst/>
          </a:prstGeom>
          <a:noFill/>
          <a:ln/>
        </p:spPr>
        <p:txBody>
          <a:bodyPr wrap="square" lIns="0" tIns="0" rIns="0" bIns="0" rtlCol="0" anchor="t"/>
          <a:lstStyle/>
          <a:p>
            <a:pPr marL="0" indent="0">
              <a:buNone/>
            </a:pPr>
            <a:r>
              <a:rPr lang="en-US" sz="950" dirty="0">
                <a:solidFill>
                  <a:srgbClr val="2B3440"/>
                </a:solidFill>
                <a:latin typeface="Calibri" pitchFamily="34" charset="0"/>
                <a:ea typeface="Calibri" pitchFamily="34" charset="-122"/>
                <a:cs typeface="Calibri" pitchFamily="34" charset="-120"/>
              </a:rPr>
              <a:t>A full rollout leaves no way to attribute contact changes to the assistant. A randomised holdout does, in both directions.</a:t>
            </a:r>
            <a:endParaRPr lang="en-US" sz="950" dirty="0"/>
          </a:p>
        </p:txBody>
      </p:sp>
      <p:sp>
        <p:nvSpPr>
          <p:cNvPr id="11" name="Shape 8"/>
          <p:cNvSpPr/>
          <p:nvPr/>
        </p:nvSpPr>
        <p:spPr>
          <a:xfrm>
            <a:off x="4297680" y="5212080"/>
            <a:ext cx="3566160" cy="1051560"/>
          </a:xfrm>
          <a:prstGeom prst="roundRect">
            <a:avLst>
              <a:gd name="adj" fmla="val 6957"/>
            </a:avLst>
          </a:prstGeom>
          <a:solidFill>
            <a:srgbClr val="F4F7FB"/>
          </a:solidFill>
          <a:ln w="12700">
            <a:solidFill>
              <a:srgbClr val="F4F7FB"/>
            </a:solidFill>
            <a:prstDash val="solid"/>
          </a:ln>
        </p:spPr>
        <p:txBody>
          <a:bodyPr/>
          <a:lstStyle/>
          <a:p>
            <a:endParaRPr lang="en-US"/>
          </a:p>
        </p:txBody>
      </p:sp>
      <p:sp>
        <p:nvSpPr>
          <p:cNvPr id="12" name="Text 9"/>
          <p:cNvSpPr txBox="1"/>
          <p:nvPr/>
        </p:nvSpPr>
        <p:spPr>
          <a:xfrm>
            <a:off x="4480560" y="5285232"/>
            <a:ext cx="3200400" cy="256032"/>
          </a:xfrm>
          <a:prstGeom prst="rect">
            <a:avLst/>
          </a:prstGeom>
          <a:noFill/>
          <a:ln/>
        </p:spPr>
        <p:txBody>
          <a:bodyPr wrap="square" lIns="0" tIns="0" rIns="0" bIns="0" rtlCol="0" anchor="ctr"/>
          <a:lstStyle/>
          <a:p>
            <a:pPr marL="0" indent="0">
              <a:buNone/>
            </a:pPr>
            <a:r>
              <a:rPr lang="en-US" sz="1100" b="1" dirty="0">
                <a:solidFill>
                  <a:srgbClr val="0F2D52"/>
                </a:solidFill>
                <a:latin typeface="Trebuchet MS" pitchFamily="34" charset="0"/>
                <a:ea typeface="Trebuchet MS" pitchFamily="34" charset="-122"/>
                <a:cs typeface="Trebuchet MS" pitchFamily="34" charset="-120"/>
              </a:rPr>
              <a:t>Sequence: internal first</a:t>
            </a:r>
            <a:endParaRPr lang="en-US" sz="1100" dirty="0"/>
          </a:p>
        </p:txBody>
      </p:sp>
      <p:sp>
        <p:nvSpPr>
          <p:cNvPr id="13" name="Text 10"/>
          <p:cNvSpPr txBox="1"/>
          <p:nvPr/>
        </p:nvSpPr>
        <p:spPr>
          <a:xfrm>
            <a:off x="4480560" y="5550408"/>
            <a:ext cx="3200400" cy="658368"/>
          </a:xfrm>
          <a:prstGeom prst="rect">
            <a:avLst/>
          </a:prstGeom>
          <a:noFill/>
          <a:ln/>
        </p:spPr>
        <p:txBody>
          <a:bodyPr wrap="square" lIns="0" tIns="0" rIns="0" bIns="0" rtlCol="0" anchor="t"/>
          <a:lstStyle/>
          <a:p>
            <a:pPr marL="0" indent="0">
              <a:buNone/>
            </a:pPr>
            <a:r>
              <a:rPr lang="en-US" sz="950" dirty="0">
                <a:solidFill>
                  <a:srgbClr val="2B3440"/>
                </a:solidFill>
                <a:latin typeface="Calibri" pitchFamily="34" charset="0"/>
                <a:ea typeface="Calibri" pitchFamily="34" charset="-122"/>
                <a:cs typeface="Calibri" pitchFamily="34" charset="-120"/>
              </a:rPr>
              <a:t>Client-services reps and RMs use it for 2–4 weeks. Failed intents are fixed before clients see them; reps become promoters.</a:t>
            </a:r>
            <a:endParaRPr lang="en-US" sz="950" dirty="0"/>
          </a:p>
        </p:txBody>
      </p:sp>
      <p:sp>
        <p:nvSpPr>
          <p:cNvPr id="14" name="Shape 11"/>
          <p:cNvSpPr/>
          <p:nvPr/>
        </p:nvSpPr>
        <p:spPr>
          <a:xfrm>
            <a:off x="8046720" y="5212080"/>
            <a:ext cx="3566160" cy="1051560"/>
          </a:xfrm>
          <a:prstGeom prst="roundRect">
            <a:avLst>
              <a:gd name="adj" fmla="val 6957"/>
            </a:avLst>
          </a:prstGeom>
          <a:solidFill>
            <a:srgbClr val="F4F7FB"/>
          </a:solidFill>
          <a:ln w="12700">
            <a:solidFill>
              <a:srgbClr val="F4F7FB"/>
            </a:solidFill>
            <a:prstDash val="solid"/>
          </a:ln>
        </p:spPr>
        <p:txBody>
          <a:bodyPr/>
          <a:lstStyle/>
          <a:p>
            <a:endParaRPr lang="en-US"/>
          </a:p>
        </p:txBody>
      </p:sp>
      <p:sp>
        <p:nvSpPr>
          <p:cNvPr id="15" name="Text 12"/>
          <p:cNvSpPr txBox="1"/>
          <p:nvPr/>
        </p:nvSpPr>
        <p:spPr>
          <a:xfrm>
            <a:off x="8229600" y="5285232"/>
            <a:ext cx="3200400" cy="256032"/>
          </a:xfrm>
          <a:prstGeom prst="rect">
            <a:avLst/>
          </a:prstGeom>
          <a:noFill/>
          <a:ln/>
        </p:spPr>
        <p:txBody>
          <a:bodyPr wrap="square" lIns="0" tIns="0" rIns="0" bIns="0" rtlCol="0" anchor="ctr"/>
          <a:lstStyle/>
          <a:p>
            <a:pPr marL="0" indent="0">
              <a:buNone/>
            </a:pPr>
            <a:r>
              <a:rPr lang="en-US" sz="1100" b="1" dirty="0">
                <a:solidFill>
                  <a:srgbClr val="0F2D52"/>
                </a:solidFill>
                <a:latin typeface="Trebuchet MS" pitchFamily="34" charset="0"/>
                <a:ea typeface="Trebuchet MS" pitchFamily="34" charset="-122"/>
                <a:cs typeface="Trebuchet MS" pitchFamily="34" charset="-120"/>
              </a:rPr>
              <a:t>Gate: total contacts, not calls</a:t>
            </a:r>
            <a:endParaRPr lang="en-US" sz="1100" dirty="0"/>
          </a:p>
        </p:txBody>
      </p:sp>
      <p:sp>
        <p:nvSpPr>
          <p:cNvPr id="16" name="Text 13"/>
          <p:cNvSpPr txBox="1"/>
          <p:nvPr/>
        </p:nvSpPr>
        <p:spPr>
          <a:xfrm>
            <a:off x="8229600" y="5550408"/>
            <a:ext cx="3200400" cy="658368"/>
          </a:xfrm>
          <a:prstGeom prst="rect">
            <a:avLst/>
          </a:prstGeom>
          <a:noFill/>
          <a:ln/>
        </p:spPr>
        <p:txBody>
          <a:bodyPr wrap="square" lIns="0" tIns="0" rIns="0" bIns="0" rtlCol="0" anchor="t"/>
          <a:lstStyle/>
          <a:p>
            <a:pPr marL="0" indent="0">
              <a:buNone/>
            </a:pPr>
            <a:r>
              <a:rPr lang="en-US" sz="950" dirty="0">
                <a:solidFill>
                  <a:srgbClr val="2B3440"/>
                </a:solidFill>
                <a:latin typeface="Calibri" pitchFamily="34" charset="0"/>
                <a:ea typeface="Calibri" pitchFamily="34" charset="-122"/>
                <a:cs typeface="Calibri" pitchFamily="34" charset="-120"/>
              </a:rPr>
              <a:t>A calls-only gate can be passed by shifting demand into service requests. Cost-weighted total contacts cannot.</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64240" cy="640080"/>
          </a:xfrm>
          <a:prstGeom prst="rect">
            <a:avLst/>
          </a:prstGeom>
          <a:noFill/>
          <a:ln/>
        </p:spPr>
        <p:txBody>
          <a:bodyPr wrap="square" lIns="0" tIns="0" rIns="0" bIns="0" rtlCol="0" anchor="ctr"/>
          <a:lstStyle/>
          <a:p>
            <a:pPr marL="0" indent="0">
              <a:buNone/>
            </a:pPr>
            <a:r>
              <a:rPr lang="en-US" sz="2800" b="1" dirty="0">
                <a:solidFill>
                  <a:srgbClr val="0F2D52"/>
                </a:solidFill>
                <a:latin typeface="Trebuchet MS" pitchFamily="34" charset="0"/>
                <a:ea typeface="Trebuchet MS" pitchFamily="34" charset="-122"/>
                <a:cs typeface="Trebuchet MS" pitchFamily="34" charset="-120"/>
              </a:rPr>
              <a:t>Proposed launch: help-first, gated on evidence</a:t>
            </a:r>
            <a:endParaRPr lang="en-US" sz="2800" dirty="0"/>
          </a:p>
        </p:txBody>
      </p:sp>
      <p:sp>
        <p:nvSpPr>
          <p:cNvPr id="3" name="Text 1"/>
          <p:cNvSpPr txBox="1"/>
          <p:nvPr/>
        </p:nvSpPr>
        <p:spPr>
          <a:xfrm>
            <a:off x="548640" y="987552"/>
            <a:ext cx="11064240" cy="365760"/>
          </a:xfrm>
          <a:prstGeom prst="rect">
            <a:avLst/>
          </a:prstGeom>
          <a:noFill/>
          <a:ln/>
        </p:spPr>
        <p:txBody>
          <a:bodyPr wrap="square" lIns="0" tIns="0" rIns="0" bIns="0" rtlCol="0" anchor="ctr"/>
          <a:lstStyle/>
          <a:p>
            <a:pPr marL="0" indent="0">
              <a:buNone/>
            </a:pPr>
            <a:r>
              <a:rPr lang="en-US" sz="1300" dirty="0">
                <a:solidFill>
                  <a:srgbClr val="5A6270"/>
                </a:solidFill>
                <a:latin typeface="Calibri" pitchFamily="34" charset="0"/>
                <a:ea typeface="Calibri" pitchFamily="34" charset="-122"/>
                <a:cs typeface="Calibri" pitchFamily="34" charset="-120"/>
              </a:rPr>
              <a:t>Positioning: “Ask instead of reading the guide.” Help leads; balances and instant payments are named plainly as secondary. Nothing is promised that is not there.</a:t>
            </a:r>
            <a:endParaRPr lang="en-US" sz="1300" dirty="0"/>
          </a:p>
        </p:txBody>
      </p:sp>
      <p:sp>
        <p:nvSpPr>
          <p:cNvPr id="4" name="Text 2"/>
          <p:cNvSpPr txBox="1"/>
          <p:nvPr/>
        </p:nvSpPr>
        <p:spPr>
          <a:xfrm>
            <a:off x="548640" y="6419088"/>
            <a:ext cx="10058400" cy="274320"/>
          </a:xfrm>
          <a:prstGeom prst="rect">
            <a:avLst/>
          </a:prstGeom>
          <a:noFill/>
          <a:ln/>
        </p:spPr>
        <p:txBody>
          <a:bodyPr wrap="square" lIns="0" tIns="0" rIns="0" bIns="0" rtlCol="0" anchor="ctr"/>
          <a:lstStyle/>
          <a:p>
            <a:pPr marL="0" indent="0">
              <a:buNone/>
            </a:pPr>
            <a:r>
              <a:rPr lang="en-US" sz="900" dirty="0">
                <a:solidFill>
                  <a:srgbClr val="5A6270"/>
                </a:solidFill>
                <a:latin typeface="Calibri" pitchFamily="34" charset="0"/>
                <a:ea typeface="Calibri" pitchFamily="34" charset="-122"/>
                <a:cs typeface="Calibri" pitchFamily="34" charset="-120"/>
              </a:rPr>
              <a:t>SAFARI customer launch  |  Executive summary  |  Draft for discussion  |  Evidence labelled independent, company-reported or vendor</a:t>
            </a:r>
            <a:endParaRPr lang="en-US" sz="900" dirty="0"/>
          </a:p>
        </p:txBody>
      </p:sp>
      <p:sp>
        <p:nvSpPr>
          <p:cNvPr id="5" name="Text 3"/>
          <p:cNvSpPr txBox="1"/>
          <p:nvPr/>
        </p:nvSpPr>
        <p:spPr>
          <a:xfrm>
            <a:off x="11155680" y="6419088"/>
            <a:ext cx="502920" cy="274320"/>
          </a:xfrm>
          <a:prstGeom prst="rect">
            <a:avLst/>
          </a:prstGeom>
          <a:noFill/>
          <a:ln/>
        </p:spPr>
        <p:txBody>
          <a:bodyPr wrap="square" lIns="0" tIns="0" rIns="0" bIns="0" rtlCol="0" anchor="ctr"/>
          <a:lstStyle/>
          <a:p>
            <a:pPr marL="0" indent="0" algn="r">
              <a:buNone/>
            </a:pPr>
            <a:r>
              <a:rPr lang="en-US" sz="900" dirty="0">
                <a:solidFill>
                  <a:srgbClr val="5A6270"/>
                </a:solidFill>
                <a:latin typeface="Calibri" pitchFamily="34" charset="0"/>
                <a:ea typeface="Calibri" pitchFamily="34" charset="-122"/>
                <a:cs typeface="Calibri" pitchFamily="34" charset="-120"/>
              </a:rPr>
              <a:t>4 / 4</a:t>
            </a:r>
            <a:endParaRPr lang="en-US" sz="900" dirty="0"/>
          </a:p>
        </p:txBody>
      </p:sp>
      <p:sp>
        <p:nvSpPr>
          <p:cNvPr id="6" name="Shape 4"/>
          <p:cNvSpPr/>
          <p:nvPr/>
        </p:nvSpPr>
        <p:spPr>
          <a:xfrm>
            <a:off x="548640" y="1463040"/>
            <a:ext cx="2331720" cy="2057400"/>
          </a:xfrm>
          <a:prstGeom prst="roundRect">
            <a:avLst>
              <a:gd name="adj" fmla="val 3556"/>
            </a:avLst>
          </a:prstGeom>
          <a:solidFill>
            <a:srgbClr val="F4F7FB"/>
          </a:solidFill>
          <a:ln w="12700">
            <a:solidFill>
              <a:srgbClr val="F4F7FB"/>
            </a:solidFill>
            <a:prstDash val="solid"/>
          </a:ln>
        </p:spPr>
        <p:txBody>
          <a:bodyPr/>
          <a:lstStyle/>
          <a:p>
            <a:endParaRPr lang="en-US"/>
          </a:p>
        </p:txBody>
      </p:sp>
      <p:sp>
        <p:nvSpPr>
          <p:cNvPr id="7" name="Text 5"/>
          <p:cNvSpPr txBox="1"/>
          <p:nvPr/>
        </p:nvSpPr>
        <p:spPr>
          <a:xfrm>
            <a:off x="731520" y="1554480"/>
            <a:ext cx="2011680" cy="274320"/>
          </a:xfrm>
          <a:prstGeom prst="rect">
            <a:avLst/>
          </a:prstGeom>
          <a:noFill/>
          <a:ln/>
        </p:spPr>
        <p:txBody>
          <a:bodyPr wrap="square" lIns="0" tIns="0" rIns="0" bIns="0" rtlCol="0" anchor="ctr"/>
          <a:lstStyle/>
          <a:p>
            <a:pPr marL="0" indent="0">
              <a:buNone/>
            </a:pPr>
            <a:r>
              <a:rPr lang="en-US" sz="1250" b="1" dirty="0">
                <a:solidFill>
                  <a:srgbClr val="0F2D52"/>
                </a:solidFill>
                <a:latin typeface="Trebuchet MS" pitchFamily="34" charset="0"/>
                <a:ea typeface="Trebuchet MS" pitchFamily="34" charset="-122"/>
                <a:cs typeface="Trebuchet MS" pitchFamily="34" charset="-120"/>
              </a:rPr>
              <a:t>In scope, Phase 1</a:t>
            </a:r>
            <a:endParaRPr lang="en-US" sz="1250" dirty="0"/>
          </a:p>
        </p:txBody>
      </p:sp>
      <p:sp>
        <p:nvSpPr>
          <p:cNvPr id="8" name="Text 6"/>
          <p:cNvSpPr txBox="1"/>
          <p:nvPr/>
        </p:nvSpPr>
        <p:spPr>
          <a:xfrm>
            <a:off x="731520" y="1874520"/>
            <a:ext cx="2011680" cy="155448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B3440"/>
                </a:solidFill>
                <a:latin typeface="Calibri" pitchFamily="34" charset="0"/>
                <a:ea typeface="Calibri" pitchFamily="34" charset="-122"/>
                <a:cs typeface="Calibri" pitchFamily="34" charset="-120"/>
              </a:rPr>
              <a:t>Help and FAQs across payments, including wire procedures</a:t>
            </a:r>
            <a:endParaRPr lang="en-US" sz="1050" dirty="0"/>
          </a:p>
          <a:p>
            <a:pPr marL="342900" indent="-342900">
              <a:spcAft>
                <a:spcPts val="400"/>
              </a:spcAft>
              <a:buSzPct val="100000"/>
              <a:buChar char="•"/>
            </a:pPr>
            <a:r>
              <a:rPr lang="en-US" sz="1050" dirty="0">
                <a:solidFill>
                  <a:srgbClr val="2B3440"/>
                </a:solidFill>
                <a:latin typeface="Calibri" pitchFamily="34" charset="0"/>
                <a:ea typeface="Calibri" pitchFamily="34" charset="-122"/>
                <a:cs typeface="Calibri" pitchFamily="34" charset="-120"/>
              </a:rPr>
              <a:t>Cash balances</a:t>
            </a:r>
            <a:endParaRPr lang="en-US" sz="1050" dirty="0"/>
          </a:p>
          <a:p>
            <a:pPr marL="342900" indent="-342900">
              <a:spcAft>
                <a:spcPts val="400"/>
              </a:spcAft>
              <a:buSzPct val="100000"/>
              <a:buChar char="•"/>
            </a:pPr>
            <a:r>
              <a:rPr lang="en-US" sz="1050" dirty="0">
                <a:solidFill>
                  <a:srgbClr val="2B3440"/>
                </a:solidFill>
                <a:latin typeface="Calibri" pitchFamily="34" charset="0"/>
                <a:ea typeface="Calibri" pitchFamily="34" charset="-122"/>
                <a:cs typeface="Calibri" pitchFamily="34" charset="-120"/>
              </a:rPr>
              <a:t>Instant payments</a:t>
            </a:r>
            <a:endParaRPr lang="en-US" sz="1050" dirty="0"/>
          </a:p>
          <a:p>
            <a:pPr marL="342900" indent="-342900">
              <a:spcAft>
                <a:spcPts val="400"/>
              </a:spcAft>
              <a:buSzPct val="100000"/>
              <a:buChar char="•"/>
            </a:pPr>
            <a:r>
              <a:rPr lang="en-US" sz="1050" dirty="0">
                <a:solidFill>
                  <a:srgbClr val="2B3440"/>
                </a:solidFill>
                <a:latin typeface="Calibri" pitchFamily="34" charset="0"/>
                <a:ea typeface="Calibri" pitchFamily="34" charset="-122"/>
                <a:cs typeface="Calibri" pitchFamily="34" charset="-120"/>
              </a:rPr>
              <a:t>Non-transaction servicing (limits, templates, access)</a:t>
            </a:r>
            <a:endParaRPr lang="en-US" sz="1050" dirty="0"/>
          </a:p>
        </p:txBody>
      </p:sp>
      <p:sp>
        <p:nvSpPr>
          <p:cNvPr id="9" name="Shape 7"/>
          <p:cNvSpPr/>
          <p:nvPr/>
        </p:nvSpPr>
        <p:spPr>
          <a:xfrm>
            <a:off x="3017520" y="1463040"/>
            <a:ext cx="2331720" cy="2057400"/>
          </a:xfrm>
          <a:prstGeom prst="roundRect">
            <a:avLst>
              <a:gd name="adj" fmla="val 3556"/>
            </a:avLst>
          </a:prstGeom>
          <a:solidFill>
            <a:srgbClr val="F4F7FB"/>
          </a:solidFill>
          <a:ln w="12700">
            <a:solidFill>
              <a:srgbClr val="F4F7FB"/>
            </a:solidFill>
            <a:prstDash val="solid"/>
          </a:ln>
        </p:spPr>
        <p:txBody>
          <a:bodyPr/>
          <a:lstStyle/>
          <a:p>
            <a:endParaRPr lang="en-US"/>
          </a:p>
        </p:txBody>
      </p:sp>
      <p:sp>
        <p:nvSpPr>
          <p:cNvPr id="10" name="Text 8"/>
          <p:cNvSpPr txBox="1"/>
          <p:nvPr/>
        </p:nvSpPr>
        <p:spPr>
          <a:xfrm>
            <a:off x="3200400" y="1554480"/>
            <a:ext cx="2011680" cy="274320"/>
          </a:xfrm>
          <a:prstGeom prst="rect">
            <a:avLst/>
          </a:prstGeom>
          <a:noFill/>
          <a:ln/>
        </p:spPr>
        <p:txBody>
          <a:bodyPr wrap="square" lIns="0" tIns="0" rIns="0" bIns="0" rtlCol="0" anchor="ctr"/>
          <a:lstStyle/>
          <a:p>
            <a:pPr marL="0" indent="0">
              <a:buNone/>
            </a:pPr>
            <a:r>
              <a:rPr lang="en-US" sz="1250" b="1" dirty="0">
                <a:solidFill>
                  <a:srgbClr val="0F2D52"/>
                </a:solidFill>
                <a:latin typeface="Trebuchet MS" pitchFamily="34" charset="0"/>
                <a:ea typeface="Trebuchet MS" pitchFamily="34" charset="-122"/>
                <a:cs typeface="Trebuchet MS" pitchFamily="34" charset="-120"/>
              </a:rPr>
              <a:t>Out until Phase 2</a:t>
            </a:r>
            <a:endParaRPr lang="en-US" sz="1250" dirty="0"/>
          </a:p>
        </p:txBody>
      </p:sp>
      <p:sp>
        <p:nvSpPr>
          <p:cNvPr id="11" name="Text 9"/>
          <p:cNvSpPr txBox="1"/>
          <p:nvPr/>
        </p:nvSpPr>
        <p:spPr>
          <a:xfrm>
            <a:off x="3200400" y="1874520"/>
            <a:ext cx="2011680" cy="155448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B3440"/>
                </a:solidFill>
                <a:latin typeface="Calibri" pitchFamily="34" charset="0"/>
                <a:ea typeface="Calibri" pitchFamily="34" charset="-122"/>
                <a:cs typeface="Calibri" pitchFamily="34" charset="-120"/>
              </a:rPr>
              <a:t>Wire transaction data: status, details, exceptions</a:t>
            </a:r>
            <a:endParaRPr lang="en-US" sz="1050" dirty="0"/>
          </a:p>
          <a:p>
            <a:pPr marL="342900" indent="-342900">
              <a:spcAft>
                <a:spcPts val="400"/>
              </a:spcAft>
              <a:buSzPct val="100000"/>
              <a:buChar char="•"/>
            </a:pPr>
            <a:r>
              <a:rPr lang="en-US" sz="1050" dirty="0">
                <a:solidFill>
                  <a:srgbClr val="2B3440"/>
                </a:solidFill>
                <a:latin typeface="Calibri" pitchFamily="34" charset="0"/>
                <a:ea typeface="Calibri" pitchFamily="34" charset="-122"/>
                <a:cs typeface="Calibri" pitchFamily="34" charset="-120"/>
              </a:rPr>
              <a:t>Transaction-specific wire requests: trace, recall, amendment</a:t>
            </a:r>
            <a:endParaRPr lang="en-US" sz="1050" dirty="0"/>
          </a:p>
          <a:p>
            <a:pPr marL="342900" indent="-342900">
              <a:spcAft>
                <a:spcPts val="400"/>
              </a:spcAft>
              <a:buSzPct val="100000"/>
              <a:buChar char="•"/>
            </a:pPr>
            <a:r>
              <a:rPr lang="en-US" sz="1050" dirty="0">
                <a:solidFill>
                  <a:srgbClr val="2B3440"/>
                </a:solidFill>
                <a:latin typeface="Calibri" pitchFamily="34" charset="0"/>
                <a:ea typeface="Calibri" pitchFamily="34" charset="-122"/>
                <a:cs typeface="Calibri" pitchFamily="34" charset="-120"/>
              </a:rPr>
              <a:t>Why: raising a wire request without the data turns status questions into tickets</a:t>
            </a:r>
            <a:endParaRPr lang="en-US" sz="1050" dirty="0"/>
          </a:p>
        </p:txBody>
      </p:sp>
      <p:sp>
        <p:nvSpPr>
          <p:cNvPr id="12" name="Text 10"/>
          <p:cNvSpPr txBox="1"/>
          <p:nvPr/>
        </p:nvSpPr>
        <p:spPr>
          <a:xfrm>
            <a:off x="5669280" y="1463040"/>
            <a:ext cx="5943600" cy="274320"/>
          </a:xfrm>
          <a:prstGeom prst="rect">
            <a:avLst/>
          </a:prstGeom>
          <a:noFill/>
          <a:ln/>
        </p:spPr>
        <p:txBody>
          <a:bodyPr wrap="square" lIns="0" tIns="0" rIns="0" bIns="0" rtlCol="0" anchor="ctr"/>
          <a:lstStyle/>
          <a:p>
            <a:pPr marL="0" indent="0">
              <a:buNone/>
            </a:pPr>
            <a:r>
              <a:rPr lang="en-US" sz="1250" b="1" dirty="0">
                <a:solidFill>
                  <a:srgbClr val="0F2D52"/>
                </a:solidFill>
                <a:latin typeface="Trebuchet MS" pitchFamily="34" charset="0"/>
                <a:ea typeface="Trebuchet MS" pitchFamily="34" charset="-122"/>
                <a:cs typeface="Trebuchet MS" pitchFamily="34" charset="-120"/>
              </a:rPr>
              <a:t>Three phases</a:t>
            </a:r>
            <a:endParaRPr lang="en-US" sz="1250" dirty="0"/>
          </a:p>
        </p:txBody>
      </p:sp>
      <p:sp>
        <p:nvSpPr>
          <p:cNvPr id="13" name="Shape 11"/>
          <p:cNvSpPr/>
          <p:nvPr/>
        </p:nvSpPr>
        <p:spPr>
          <a:xfrm>
            <a:off x="5669280" y="1783080"/>
            <a:ext cx="1874520" cy="1737360"/>
          </a:xfrm>
          <a:prstGeom prst="rect">
            <a:avLst/>
          </a:prstGeom>
          <a:solidFill>
            <a:srgbClr val="F4F7FB"/>
          </a:solidFill>
          <a:ln w="12700">
            <a:solidFill>
              <a:srgbClr val="C7D3E3"/>
            </a:solidFill>
            <a:prstDash val="solid"/>
          </a:ln>
        </p:spPr>
        <p:txBody>
          <a:bodyPr/>
          <a:lstStyle/>
          <a:p>
            <a:endParaRPr lang="en-US"/>
          </a:p>
        </p:txBody>
      </p:sp>
      <p:sp>
        <p:nvSpPr>
          <p:cNvPr id="14" name="Text 12"/>
          <p:cNvSpPr txBox="1"/>
          <p:nvPr/>
        </p:nvSpPr>
        <p:spPr>
          <a:xfrm>
            <a:off x="5779008" y="1828800"/>
            <a:ext cx="1691640" cy="292608"/>
          </a:xfrm>
          <a:prstGeom prst="rect">
            <a:avLst/>
          </a:prstGeom>
          <a:noFill/>
          <a:ln/>
        </p:spPr>
        <p:txBody>
          <a:bodyPr wrap="square" lIns="0" tIns="0" rIns="0" bIns="0" rtlCol="0" anchor="ctr"/>
          <a:lstStyle/>
          <a:p>
            <a:pPr marL="0" indent="0">
              <a:buNone/>
            </a:pPr>
            <a:r>
              <a:rPr lang="en-US" sz="1050" b="1" dirty="0">
                <a:solidFill>
                  <a:srgbClr val="0F2D52"/>
                </a:solidFill>
                <a:latin typeface="Trebuchet MS" pitchFamily="34" charset="0"/>
                <a:ea typeface="Trebuchet MS" pitchFamily="34" charset="-122"/>
                <a:cs typeface="Trebuchet MS" pitchFamily="34" charset="-120"/>
              </a:rPr>
              <a:t>Phase 0: Internal</a:t>
            </a:r>
            <a:endParaRPr lang="en-US" sz="1050" dirty="0"/>
          </a:p>
        </p:txBody>
      </p:sp>
      <p:sp>
        <p:nvSpPr>
          <p:cNvPr id="15" name="Text 13"/>
          <p:cNvSpPr txBox="1"/>
          <p:nvPr/>
        </p:nvSpPr>
        <p:spPr>
          <a:xfrm>
            <a:off x="5779008" y="2103120"/>
            <a:ext cx="1691640" cy="228600"/>
          </a:xfrm>
          <a:prstGeom prst="rect">
            <a:avLst/>
          </a:prstGeom>
          <a:noFill/>
          <a:ln/>
        </p:spPr>
        <p:txBody>
          <a:bodyPr wrap="square" lIns="0" tIns="0" rIns="0" bIns="0" rtlCol="0" anchor="ctr"/>
          <a:lstStyle/>
          <a:p>
            <a:pPr marL="0" indent="0">
              <a:buNone/>
            </a:pPr>
            <a:r>
              <a:rPr lang="en-US" sz="1000" b="1" dirty="0">
                <a:solidFill>
                  <a:srgbClr val="2E6DB4"/>
                </a:solidFill>
                <a:latin typeface="Calibri" pitchFamily="34" charset="0"/>
                <a:ea typeface="Calibri" pitchFamily="34" charset="-122"/>
                <a:cs typeface="Calibri" pitchFamily="34" charset="-120"/>
              </a:rPr>
              <a:t>2–4 weeks</a:t>
            </a:r>
            <a:endParaRPr lang="en-US" sz="1000" dirty="0"/>
          </a:p>
        </p:txBody>
      </p:sp>
      <p:sp>
        <p:nvSpPr>
          <p:cNvPr id="16" name="Text 14"/>
          <p:cNvSpPr txBox="1"/>
          <p:nvPr/>
        </p:nvSpPr>
        <p:spPr>
          <a:xfrm>
            <a:off x="5779008" y="2359152"/>
            <a:ext cx="1691640" cy="1115568"/>
          </a:xfrm>
          <a:prstGeom prst="rect">
            <a:avLst/>
          </a:prstGeom>
          <a:noFill/>
          <a:ln/>
        </p:spPr>
        <p:txBody>
          <a:bodyPr wrap="square" lIns="0" tIns="0" rIns="0" bIns="0" rtlCol="0" anchor="t"/>
          <a:lstStyle/>
          <a:p>
            <a:pPr marL="0" indent="0">
              <a:buNone/>
            </a:pPr>
            <a:r>
              <a:rPr lang="en-US" sz="950" dirty="0">
                <a:solidFill>
                  <a:srgbClr val="2B3440"/>
                </a:solidFill>
                <a:latin typeface="Calibri" pitchFamily="34" charset="0"/>
                <a:ea typeface="Calibri" pitchFamily="34" charset="-122"/>
                <a:cs typeface="Calibri" pitchFamily="34" charset="-120"/>
              </a:rPr>
              <a:t>Client-services reps and RMs use it first. Failed intents and answers fixed before clients see them. Payments signs off wire help content.</a:t>
            </a:r>
            <a:endParaRPr lang="en-US" sz="950" dirty="0"/>
          </a:p>
        </p:txBody>
      </p:sp>
      <p:sp>
        <p:nvSpPr>
          <p:cNvPr id="17" name="Shape 15"/>
          <p:cNvSpPr/>
          <p:nvPr/>
        </p:nvSpPr>
        <p:spPr>
          <a:xfrm>
            <a:off x="7552944" y="2514600"/>
            <a:ext cx="118872" cy="274320"/>
          </a:xfrm>
          <a:prstGeom prst="rightArrow">
            <a:avLst/>
          </a:prstGeom>
          <a:solidFill>
            <a:srgbClr val="2E6DB4"/>
          </a:solidFill>
          <a:ln w="12700">
            <a:solidFill>
              <a:srgbClr val="2E6DB4"/>
            </a:solidFill>
            <a:prstDash val="solid"/>
          </a:ln>
        </p:spPr>
        <p:txBody>
          <a:bodyPr/>
          <a:lstStyle/>
          <a:p>
            <a:endParaRPr lang="en-US"/>
          </a:p>
        </p:txBody>
      </p:sp>
      <p:sp>
        <p:nvSpPr>
          <p:cNvPr id="18" name="Shape 16"/>
          <p:cNvSpPr/>
          <p:nvPr/>
        </p:nvSpPr>
        <p:spPr>
          <a:xfrm>
            <a:off x="7680960" y="1783080"/>
            <a:ext cx="1874520" cy="1737360"/>
          </a:xfrm>
          <a:prstGeom prst="rect">
            <a:avLst/>
          </a:prstGeom>
          <a:solidFill>
            <a:srgbClr val="E8EEF6"/>
          </a:solidFill>
          <a:ln w="12700">
            <a:solidFill>
              <a:srgbClr val="C7D3E3"/>
            </a:solidFill>
            <a:prstDash val="solid"/>
          </a:ln>
        </p:spPr>
        <p:txBody>
          <a:bodyPr/>
          <a:lstStyle/>
          <a:p>
            <a:endParaRPr lang="en-US"/>
          </a:p>
        </p:txBody>
      </p:sp>
      <p:sp>
        <p:nvSpPr>
          <p:cNvPr id="19" name="Text 17"/>
          <p:cNvSpPr txBox="1"/>
          <p:nvPr/>
        </p:nvSpPr>
        <p:spPr>
          <a:xfrm>
            <a:off x="7790688" y="1828800"/>
            <a:ext cx="1691640" cy="292608"/>
          </a:xfrm>
          <a:prstGeom prst="rect">
            <a:avLst/>
          </a:prstGeom>
          <a:noFill/>
          <a:ln/>
        </p:spPr>
        <p:txBody>
          <a:bodyPr wrap="square" lIns="0" tIns="0" rIns="0" bIns="0" rtlCol="0" anchor="ctr"/>
          <a:lstStyle/>
          <a:p>
            <a:pPr marL="0" indent="0">
              <a:buNone/>
            </a:pPr>
            <a:r>
              <a:rPr lang="en-US" sz="1050" b="1" dirty="0">
                <a:solidFill>
                  <a:srgbClr val="0F2D52"/>
                </a:solidFill>
                <a:latin typeface="Trebuchet MS" pitchFamily="34" charset="0"/>
                <a:ea typeface="Trebuchet MS" pitchFamily="34" charset="-122"/>
                <a:cs typeface="Trebuchet MS" pitchFamily="34" charset="-120"/>
              </a:rPr>
              <a:t>Phase 1: Client cohort</a:t>
            </a:r>
            <a:endParaRPr lang="en-US" sz="1050" dirty="0"/>
          </a:p>
        </p:txBody>
      </p:sp>
      <p:sp>
        <p:nvSpPr>
          <p:cNvPr id="20" name="Text 18"/>
          <p:cNvSpPr txBox="1"/>
          <p:nvPr/>
        </p:nvSpPr>
        <p:spPr>
          <a:xfrm>
            <a:off x="7790688" y="2103120"/>
            <a:ext cx="1691640" cy="228600"/>
          </a:xfrm>
          <a:prstGeom prst="rect">
            <a:avLst/>
          </a:prstGeom>
          <a:noFill/>
          <a:ln/>
        </p:spPr>
        <p:txBody>
          <a:bodyPr wrap="square" lIns="0" tIns="0" rIns="0" bIns="0" rtlCol="0" anchor="ctr"/>
          <a:lstStyle/>
          <a:p>
            <a:pPr marL="0" indent="0">
              <a:buNone/>
            </a:pPr>
            <a:r>
              <a:rPr lang="en-US" sz="1000" b="1" dirty="0">
                <a:solidFill>
                  <a:srgbClr val="2E6DB4"/>
                </a:solidFill>
                <a:latin typeface="Calibri" pitchFamily="34" charset="0"/>
                <a:ea typeface="Calibri" pitchFamily="34" charset="-122"/>
                <a:cs typeface="Calibri" pitchFamily="34" charset="-120"/>
              </a:rPr>
              <a:t>8–12 weeks</a:t>
            </a:r>
            <a:endParaRPr lang="en-US" sz="1000" dirty="0"/>
          </a:p>
        </p:txBody>
      </p:sp>
      <p:sp>
        <p:nvSpPr>
          <p:cNvPr id="21" name="Text 19"/>
          <p:cNvSpPr txBox="1"/>
          <p:nvPr/>
        </p:nvSpPr>
        <p:spPr>
          <a:xfrm>
            <a:off x="7790688" y="2359152"/>
            <a:ext cx="1691640" cy="1115568"/>
          </a:xfrm>
          <a:prstGeom prst="rect">
            <a:avLst/>
          </a:prstGeom>
          <a:noFill/>
          <a:ln/>
        </p:spPr>
        <p:txBody>
          <a:bodyPr wrap="square" lIns="0" tIns="0" rIns="0" bIns="0" rtlCol="0" anchor="t"/>
          <a:lstStyle/>
          <a:p>
            <a:pPr marL="0" indent="0">
              <a:buNone/>
            </a:pPr>
            <a:r>
              <a:rPr lang="en-US" sz="950" dirty="0">
                <a:solidFill>
                  <a:srgbClr val="2B3440"/>
                </a:solidFill>
                <a:latin typeface="Calibri" pitchFamily="34" charset="0"/>
                <a:ea typeface="Calibri" pitchFamily="34" charset="-122"/>
                <a:cs typeface="Calibri" pitchFamily="34" charset="-120"/>
              </a:rPr>
              <a:t>Randomised holdout, stratified by segment and contact rate. Weekly readout to joint governance. Redirects on specific-wire questions logged as demand.</a:t>
            </a:r>
            <a:endParaRPr lang="en-US" sz="950" dirty="0"/>
          </a:p>
        </p:txBody>
      </p:sp>
      <p:sp>
        <p:nvSpPr>
          <p:cNvPr id="22" name="Shape 20"/>
          <p:cNvSpPr/>
          <p:nvPr/>
        </p:nvSpPr>
        <p:spPr>
          <a:xfrm>
            <a:off x="9564624" y="2514600"/>
            <a:ext cx="118872" cy="274320"/>
          </a:xfrm>
          <a:prstGeom prst="rightArrow">
            <a:avLst/>
          </a:prstGeom>
          <a:solidFill>
            <a:srgbClr val="2E6DB4"/>
          </a:solidFill>
          <a:ln w="12700">
            <a:solidFill>
              <a:srgbClr val="2E6DB4"/>
            </a:solidFill>
            <a:prstDash val="solid"/>
          </a:ln>
        </p:spPr>
        <p:txBody>
          <a:bodyPr/>
          <a:lstStyle/>
          <a:p>
            <a:endParaRPr lang="en-US"/>
          </a:p>
        </p:txBody>
      </p:sp>
      <p:sp>
        <p:nvSpPr>
          <p:cNvPr id="23" name="Shape 21"/>
          <p:cNvSpPr/>
          <p:nvPr/>
        </p:nvSpPr>
        <p:spPr>
          <a:xfrm>
            <a:off x="9692640" y="1783080"/>
            <a:ext cx="1874520" cy="1737360"/>
          </a:xfrm>
          <a:prstGeom prst="rect">
            <a:avLst/>
          </a:prstGeom>
          <a:solidFill>
            <a:srgbClr val="F4F7FB"/>
          </a:solidFill>
          <a:ln w="12700">
            <a:solidFill>
              <a:srgbClr val="C7D3E3"/>
            </a:solidFill>
            <a:prstDash val="solid"/>
          </a:ln>
        </p:spPr>
        <p:txBody>
          <a:bodyPr/>
          <a:lstStyle/>
          <a:p>
            <a:endParaRPr lang="en-US"/>
          </a:p>
        </p:txBody>
      </p:sp>
      <p:sp>
        <p:nvSpPr>
          <p:cNvPr id="24" name="Text 22"/>
          <p:cNvSpPr txBox="1"/>
          <p:nvPr/>
        </p:nvSpPr>
        <p:spPr>
          <a:xfrm>
            <a:off x="9802368" y="1828800"/>
            <a:ext cx="1691640" cy="292608"/>
          </a:xfrm>
          <a:prstGeom prst="rect">
            <a:avLst/>
          </a:prstGeom>
          <a:noFill/>
          <a:ln/>
        </p:spPr>
        <p:txBody>
          <a:bodyPr wrap="square" lIns="0" tIns="0" rIns="0" bIns="0" rtlCol="0" anchor="ctr"/>
          <a:lstStyle/>
          <a:p>
            <a:pPr marL="0" indent="0">
              <a:buNone/>
            </a:pPr>
            <a:r>
              <a:rPr lang="en-US" sz="1050" b="1" dirty="0">
                <a:solidFill>
                  <a:srgbClr val="0F2D52"/>
                </a:solidFill>
                <a:latin typeface="Trebuchet MS" pitchFamily="34" charset="0"/>
                <a:ea typeface="Trebuchet MS" pitchFamily="34" charset="-122"/>
                <a:cs typeface="Trebuchet MS" pitchFamily="34" charset="-120"/>
              </a:rPr>
              <a:t>Phase 2: Wires</a:t>
            </a:r>
            <a:endParaRPr lang="en-US" sz="1050" dirty="0"/>
          </a:p>
        </p:txBody>
      </p:sp>
      <p:sp>
        <p:nvSpPr>
          <p:cNvPr id="25" name="Text 23"/>
          <p:cNvSpPr txBox="1"/>
          <p:nvPr/>
        </p:nvSpPr>
        <p:spPr>
          <a:xfrm>
            <a:off x="9802368" y="2103120"/>
            <a:ext cx="1691640" cy="228600"/>
          </a:xfrm>
          <a:prstGeom prst="rect">
            <a:avLst/>
          </a:prstGeom>
          <a:noFill/>
          <a:ln/>
        </p:spPr>
        <p:txBody>
          <a:bodyPr wrap="square" lIns="0" tIns="0" rIns="0" bIns="0" rtlCol="0" anchor="ctr"/>
          <a:lstStyle/>
          <a:p>
            <a:pPr marL="0" indent="0">
              <a:buNone/>
            </a:pPr>
            <a:r>
              <a:rPr lang="en-US" sz="1000" b="1" dirty="0">
                <a:solidFill>
                  <a:srgbClr val="2E6DB4"/>
                </a:solidFill>
                <a:latin typeface="Calibri" pitchFamily="34" charset="0"/>
                <a:ea typeface="Calibri" pitchFamily="34" charset="-122"/>
                <a:cs typeface="Calibri" pitchFamily="34" charset="-120"/>
              </a:rPr>
              <a:t>Sequenced</a:t>
            </a:r>
            <a:endParaRPr lang="en-US" sz="1000" dirty="0"/>
          </a:p>
        </p:txBody>
      </p:sp>
      <p:sp>
        <p:nvSpPr>
          <p:cNvPr id="26" name="Text 24"/>
          <p:cNvSpPr txBox="1"/>
          <p:nvPr/>
        </p:nvSpPr>
        <p:spPr>
          <a:xfrm>
            <a:off x="9802368" y="2359152"/>
            <a:ext cx="1691640" cy="1115568"/>
          </a:xfrm>
          <a:prstGeom prst="rect">
            <a:avLst/>
          </a:prstGeom>
          <a:noFill/>
          <a:ln/>
        </p:spPr>
        <p:txBody>
          <a:bodyPr wrap="square" lIns="0" tIns="0" rIns="0" bIns="0" rtlCol="0" anchor="t"/>
          <a:lstStyle/>
          <a:p>
            <a:pPr marL="0" indent="0">
              <a:buNone/>
            </a:pPr>
            <a:r>
              <a:rPr lang="en-US" sz="950" dirty="0">
                <a:solidFill>
                  <a:srgbClr val="2B3440"/>
                </a:solidFill>
                <a:latin typeface="Calibri" pitchFamily="34" charset="0"/>
                <a:ea typeface="Calibri" pitchFamily="34" charset="-122"/>
                <a:cs typeface="Calibri" pitchFamily="34" charset="-120"/>
              </a:rPr>
              <a:t>Wire status first with transaction-specific requests; exceptions later, with cause, next step and a contact route. Each step gets its own holdout.</a:t>
            </a:r>
            <a:endParaRPr lang="en-US" sz="950" dirty="0"/>
          </a:p>
        </p:txBody>
      </p:sp>
      <p:sp>
        <p:nvSpPr>
          <p:cNvPr id="27" name="Text 25"/>
          <p:cNvSpPr txBox="1"/>
          <p:nvPr/>
        </p:nvSpPr>
        <p:spPr>
          <a:xfrm>
            <a:off x="548640" y="3749040"/>
            <a:ext cx="5486400" cy="274320"/>
          </a:xfrm>
          <a:prstGeom prst="rect">
            <a:avLst/>
          </a:prstGeom>
          <a:noFill/>
          <a:ln/>
        </p:spPr>
        <p:txBody>
          <a:bodyPr wrap="square" lIns="0" tIns="0" rIns="0" bIns="0" rtlCol="0" anchor="ctr"/>
          <a:lstStyle/>
          <a:p>
            <a:pPr marL="0" indent="0">
              <a:buNone/>
            </a:pPr>
            <a:r>
              <a:rPr lang="en-US" sz="1250" b="1" dirty="0">
                <a:solidFill>
                  <a:srgbClr val="0F2D52"/>
                </a:solidFill>
                <a:latin typeface="Trebuchet MS" pitchFamily="34" charset="0"/>
                <a:ea typeface="Trebuchet MS" pitchFamily="34" charset="-122"/>
                <a:cs typeface="Trebuchet MS" pitchFamily="34" charset="-120"/>
              </a:rPr>
              <a:t>Safeguards</a:t>
            </a:r>
            <a:endParaRPr lang="en-US" sz="1250" dirty="0"/>
          </a:p>
        </p:txBody>
      </p:sp>
      <p:sp>
        <p:nvSpPr>
          <p:cNvPr id="28" name="Shape 26"/>
          <p:cNvSpPr/>
          <p:nvPr/>
        </p:nvSpPr>
        <p:spPr>
          <a:xfrm>
            <a:off x="548640" y="4069080"/>
            <a:ext cx="384048" cy="384048"/>
          </a:xfrm>
          <a:prstGeom prst="ellipse">
            <a:avLst/>
          </a:prstGeom>
          <a:solidFill>
            <a:srgbClr val="E8EEF6"/>
          </a:solidFill>
          <a:ln w="12700">
            <a:solidFill>
              <a:srgbClr val="E8EEF6"/>
            </a:solidFill>
            <a:prstDash val="solid"/>
          </a:ln>
        </p:spPr>
        <p:txBody>
          <a:bodyPr/>
          <a:lstStyle/>
          <a:p>
            <a:endParaRPr lang="en-US"/>
          </a:p>
        </p:txBody>
      </p:sp>
      <p:pic>
        <p:nvPicPr>
          <p:cNvPr id="29" name="Image 0" descr="preencoded.png"/>
          <p:cNvPicPr>
            <a:picLocks noChangeAspect="1"/>
          </p:cNvPicPr>
          <p:nvPr/>
        </p:nvPicPr>
        <p:blipFill>
          <a:blip r:embed="rId3"/>
          <a:stretch>
            <a:fillRect/>
          </a:stretch>
        </p:blipFill>
        <p:spPr>
          <a:xfrm>
            <a:off x="640812" y="4161252"/>
            <a:ext cx="199705" cy="199705"/>
          </a:xfrm>
          <a:prstGeom prst="rect">
            <a:avLst/>
          </a:prstGeom>
        </p:spPr>
      </p:pic>
      <p:sp>
        <p:nvSpPr>
          <p:cNvPr id="30" name="Text 27"/>
          <p:cNvSpPr txBox="1"/>
          <p:nvPr/>
        </p:nvSpPr>
        <p:spPr>
          <a:xfrm>
            <a:off x="1024128" y="4041648"/>
            <a:ext cx="2240280" cy="228600"/>
          </a:xfrm>
          <a:prstGeom prst="rect">
            <a:avLst/>
          </a:prstGeom>
          <a:noFill/>
          <a:ln/>
        </p:spPr>
        <p:txBody>
          <a:bodyPr wrap="square" lIns="0" tIns="0" rIns="0" bIns="0" rtlCol="0" anchor="ctr"/>
          <a:lstStyle/>
          <a:p>
            <a:pPr marL="0" indent="0">
              <a:buNone/>
            </a:pPr>
            <a:r>
              <a:rPr lang="en-US" sz="1100" b="1" dirty="0">
                <a:solidFill>
                  <a:srgbClr val="0F2D52"/>
                </a:solidFill>
                <a:latin typeface="Trebuchet MS" pitchFamily="34" charset="0"/>
                <a:ea typeface="Trebuchet MS" pitchFamily="34" charset="-122"/>
                <a:cs typeface="Trebuchet MS" pitchFamily="34" charset="-120"/>
              </a:rPr>
              <a:t>Disclosed capability</a:t>
            </a:r>
            <a:endParaRPr lang="en-US" sz="1100" dirty="0"/>
          </a:p>
        </p:txBody>
      </p:sp>
      <p:sp>
        <p:nvSpPr>
          <p:cNvPr id="31" name="Text 28"/>
          <p:cNvSpPr txBox="1"/>
          <p:nvPr/>
        </p:nvSpPr>
        <p:spPr>
          <a:xfrm>
            <a:off x="1024128" y="4270248"/>
            <a:ext cx="2240280" cy="548640"/>
          </a:xfrm>
          <a:prstGeom prst="rect">
            <a:avLst/>
          </a:prstGeom>
          <a:noFill/>
          <a:ln/>
        </p:spPr>
        <p:txBody>
          <a:bodyPr wrap="square" lIns="0" tIns="0" rIns="0" bIns="0" rtlCol="0" anchor="t"/>
          <a:lstStyle/>
          <a:p>
            <a:pPr marL="0" indent="0">
              <a:buNone/>
            </a:pPr>
            <a:r>
              <a:rPr lang="en-US" sz="950" dirty="0">
                <a:solidFill>
                  <a:srgbClr val="2B3440"/>
                </a:solidFill>
                <a:latin typeface="Calibri" pitchFamily="34" charset="0"/>
                <a:ea typeface="Calibri" pitchFamily="34" charset="-122"/>
                <a:cs typeface="Calibri" pitchFamily="34" charset="-120"/>
              </a:rPr>
              <a:t>A “here is what I can help with” card and prompt chips at first use.</a:t>
            </a:r>
            <a:endParaRPr lang="en-US" sz="950" dirty="0"/>
          </a:p>
        </p:txBody>
      </p:sp>
      <p:sp>
        <p:nvSpPr>
          <p:cNvPr id="32" name="Shape 29"/>
          <p:cNvSpPr/>
          <p:nvPr/>
        </p:nvSpPr>
        <p:spPr>
          <a:xfrm>
            <a:off x="3364992" y="4069080"/>
            <a:ext cx="384048" cy="384048"/>
          </a:xfrm>
          <a:prstGeom prst="ellipse">
            <a:avLst/>
          </a:prstGeom>
          <a:solidFill>
            <a:srgbClr val="E8EEF6"/>
          </a:solidFill>
          <a:ln w="12700">
            <a:solidFill>
              <a:srgbClr val="E8EEF6"/>
            </a:solidFill>
            <a:prstDash val="solid"/>
          </a:ln>
        </p:spPr>
        <p:txBody>
          <a:bodyPr/>
          <a:lstStyle/>
          <a:p>
            <a:endParaRPr lang="en-US"/>
          </a:p>
        </p:txBody>
      </p:sp>
      <p:pic>
        <p:nvPicPr>
          <p:cNvPr id="33" name="Image 1" descr="preencoded.png"/>
          <p:cNvPicPr>
            <a:picLocks noChangeAspect="1"/>
          </p:cNvPicPr>
          <p:nvPr/>
        </p:nvPicPr>
        <p:blipFill>
          <a:blip r:embed="rId4"/>
          <a:stretch>
            <a:fillRect/>
          </a:stretch>
        </p:blipFill>
        <p:spPr>
          <a:xfrm>
            <a:off x="3457164" y="4161252"/>
            <a:ext cx="199705" cy="199705"/>
          </a:xfrm>
          <a:prstGeom prst="rect">
            <a:avLst/>
          </a:prstGeom>
        </p:spPr>
      </p:pic>
      <p:sp>
        <p:nvSpPr>
          <p:cNvPr id="34" name="Text 30"/>
          <p:cNvSpPr txBox="1"/>
          <p:nvPr/>
        </p:nvSpPr>
        <p:spPr>
          <a:xfrm>
            <a:off x="3840480" y="4041648"/>
            <a:ext cx="2240280" cy="228600"/>
          </a:xfrm>
          <a:prstGeom prst="rect">
            <a:avLst/>
          </a:prstGeom>
          <a:noFill/>
          <a:ln/>
        </p:spPr>
        <p:txBody>
          <a:bodyPr wrap="square" lIns="0" tIns="0" rIns="0" bIns="0" rtlCol="0" anchor="ctr"/>
          <a:lstStyle/>
          <a:p>
            <a:pPr marL="0" indent="0">
              <a:buNone/>
            </a:pPr>
            <a:r>
              <a:rPr lang="en-US" sz="1100" b="1" dirty="0">
                <a:solidFill>
                  <a:srgbClr val="0F2D52"/>
                </a:solidFill>
                <a:latin typeface="Trebuchet MS" pitchFamily="34" charset="0"/>
                <a:ea typeface="Trebuchet MS" pitchFamily="34" charset="-122"/>
                <a:cs typeface="Trebuchet MS" pitchFamily="34" charset="-120"/>
              </a:rPr>
              <a:t>No dead ends</a:t>
            </a:r>
            <a:endParaRPr lang="en-US" sz="1100" dirty="0"/>
          </a:p>
        </p:txBody>
      </p:sp>
      <p:sp>
        <p:nvSpPr>
          <p:cNvPr id="35" name="Text 31"/>
          <p:cNvSpPr txBox="1"/>
          <p:nvPr/>
        </p:nvSpPr>
        <p:spPr>
          <a:xfrm>
            <a:off x="3840480" y="4270248"/>
            <a:ext cx="2240280" cy="548640"/>
          </a:xfrm>
          <a:prstGeom prst="rect">
            <a:avLst/>
          </a:prstGeom>
          <a:noFill/>
          <a:ln/>
        </p:spPr>
        <p:txBody>
          <a:bodyPr wrap="square" lIns="0" tIns="0" rIns="0" bIns="0" rtlCol="0" anchor="t"/>
          <a:lstStyle/>
          <a:p>
            <a:pPr marL="0" indent="0">
              <a:buNone/>
            </a:pPr>
            <a:r>
              <a:rPr lang="en-US" sz="950" dirty="0">
                <a:solidFill>
                  <a:srgbClr val="2B3440"/>
                </a:solidFill>
                <a:latin typeface="Calibri" pitchFamily="34" charset="0"/>
                <a:ea typeface="Calibri" pitchFamily="34" charset="-122"/>
                <a:cs typeface="Calibri" pitchFamily="34" charset="-120"/>
              </a:rPr>
              <a:t>Every miss links to the right Vantage page, a request, or a person.</a:t>
            </a:r>
            <a:endParaRPr lang="en-US" sz="950" dirty="0"/>
          </a:p>
        </p:txBody>
      </p:sp>
      <p:sp>
        <p:nvSpPr>
          <p:cNvPr id="36" name="Shape 32"/>
          <p:cNvSpPr/>
          <p:nvPr/>
        </p:nvSpPr>
        <p:spPr>
          <a:xfrm>
            <a:off x="6181344" y="4069080"/>
            <a:ext cx="384048" cy="384048"/>
          </a:xfrm>
          <a:prstGeom prst="ellipse">
            <a:avLst/>
          </a:prstGeom>
          <a:solidFill>
            <a:srgbClr val="E8EEF6"/>
          </a:solidFill>
          <a:ln w="12700">
            <a:solidFill>
              <a:srgbClr val="E8EEF6"/>
            </a:solidFill>
            <a:prstDash val="solid"/>
          </a:ln>
        </p:spPr>
        <p:txBody>
          <a:bodyPr/>
          <a:lstStyle/>
          <a:p>
            <a:endParaRPr lang="en-US"/>
          </a:p>
        </p:txBody>
      </p:sp>
      <p:pic>
        <p:nvPicPr>
          <p:cNvPr id="37" name="Image 2" descr="preencoded.png"/>
          <p:cNvPicPr>
            <a:picLocks noChangeAspect="1"/>
          </p:cNvPicPr>
          <p:nvPr/>
        </p:nvPicPr>
        <p:blipFill>
          <a:blip r:embed="rId5"/>
          <a:stretch>
            <a:fillRect/>
          </a:stretch>
        </p:blipFill>
        <p:spPr>
          <a:xfrm>
            <a:off x="6273516" y="4161252"/>
            <a:ext cx="199705" cy="199705"/>
          </a:xfrm>
          <a:prstGeom prst="rect">
            <a:avLst/>
          </a:prstGeom>
        </p:spPr>
      </p:pic>
      <p:sp>
        <p:nvSpPr>
          <p:cNvPr id="38" name="Text 33"/>
          <p:cNvSpPr txBox="1"/>
          <p:nvPr/>
        </p:nvSpPr>
        <p:spPr>
          <a:xfrm>
            <a:off x="6656832" y="4041648"/>
            <a:ext cx="2240280" cy="228600"/>
          </a:xfrm>
          <a:prstGeom prst="rect">
            <a:avLst/>
          </a:prstGeom>
          <a:noFill/>
          <a:ln/>
        </p:spPr>
        <p:txBody>
          <a:bodyPr wrap="square" lIns="0" tIns="0" rIns="0" bIns="0" rtlCol="0" anchor="ctr"/>
          <a:lstStyle/>
          <a:p>
            <a:pPr marL="0" indent="0">
              <a:buNone/>
            </a:pPr>
            <a:r>
              <a:rPr lang="en-US" sz="1100" b="1" dirty="0">
                <a:solidFill>
                  <a:srgbClr val="0F2D52"/>
                </a:solidFill>
                <a:latin typeface="Trebuchet MS" pitchFamily="34" charset="0"/>
                <a:ea typeface="Trebuchet MS" pitchFamily="34" charset="-122"/>
                <a:cs typeface="Trebuchet MS" pitchFamily="34" charset="-120"/>
              </a:rPr>
              <a:t>Kill switch</a:t>
            </a:r>
            <a:endParaRPr lang="en-US" sz="1100" dirty="0"/>
          </a:p>
        </p:txBody>
      </p:sp>
      <p:sp>
        <p:nvSpPr>
          <p:cNvPr id="39" name="Text 34"/>
          <p:cNvSpPr txBox="1"/>
          <p:nvPr/>
        </p:nvSpPr>
        <p:spPr>
          <a:xfrm>
            <a:off x="6656832" y="4270248"/>
            <a:ext cx="2240280" cy="548640"/>
          </a:xfrm>
          <a:prstGeom prst="rect">
            <a:avLst/>
          </a:prstGeom>
          <a:noFill/>
          <a:ln/>
        </p:spPr>
        <p:txBody>
          <a:bodyPr wrap="square" lIns="0" tIns="0" rIns="0" bIns="0" rtlCol="0" anchor="t"/>
          <a:lstStyle/>
          <a:p>
            <a:pPr marL="0" indent="0">
              <a:buNone/>
            </a:pPr>
            <a:r>
              <a:rPr lang="en-US" sz="950" dirty="0">
                <a:solidFill>
                  <a:srgbClr val="2B3440"/>
                </a:solidFill>
                <a:latin typeface="Calibri" pitchFamily="34" charset="0"/>
                <a:ea typeface="Calibri" pitchFamily="34" charset="-122"/>
                <a:cs typeface="Calibri" pitchFamily="34" charset="-120"/>
              </a:rPr>
              <a:t>Whole assistant or single intents, without a release.</a:t>
            </a:r>
            <a:endParaRPr lang="en-US" sz="950" dirty="0"/>
          </a:p>
        </p:txBody>
      </p:sp>
      <p:sp>
        <p:nvSpPr>
          <p:cNvPr id="40" name="Shape 35"/>
          <p:cNvSpPr/>
          <p:nvPr/>
        </p:nvSpPr>
        <p:spPr>
          <a:xfrm>
            <a:off x="8997696" y="4069080"/>
            <a:ext cx="384048" cy="384048"/>
          </a:xfrm>
          <a:prstGeom prst="ellipse">
            <a:avLst/>
          </a:prstGeom>
          <a:solidFill>
            <a:srgbClr val="E8EEF6"/>
          </a:solidFill>
          <a:ln w="12700">
            <a:solidFill>
              <a:srgbClr val="E8EEF6"/>
            </a:solidFill>
            <a:prstDash val="solid"/>
          </a:ln>
        </p:spPr>
        <p:txBody>
          <a:bodyPr/>
          <a:lstStyle/>
          <a:p>
            <a:endParaRPr lang="en-US"/>
          </a:p>
        </p:txBody>
      </p:sp>
      <p:pic>
        <p:nvPicPr>
          <p:cNvPr id="41" name="Image 3" descr="preencoded.png"/>
          <p:cNvPicPr>
            <a:picLocks noChangeAspect="1"/>
          </p:cNvPicPr>
          <p:nvPr/>
        </p:nvPicPr>
        <p:blipFill>
          <a:blip r:embed="rId6"/>
          <a:stretch>
            <a:fillRect/>
          </a:stretch>
        </p:blipFill>
        <p:spPr>
          <a:xfrm>
            <a:off x="9089868" y="4161252"/>
            <a:ext cx="199705" cy="199705"/>
          </a:xfrm>
          <a:prstGeom prst="rect">
            <a:avLst/>
          </a:prstGeom>
        </p:spPr>
      </p:pic>
      <p:sp>
        <p:nvSpPr>
          <p:cNvPr id="42" name="Text 36"/>
          <p:cNvSpPr txBox="1"/>
          <p:nvPr/>
        </p:nvSpPr>
        <p:spPr>
          <a:xfrm>
            <a:off x="9473184" y="4041648"/>
            <a:ext cx="2240280" cy="228600"/>
          </a:xfrm>
          <a:prstGeom prst="rect">
            <a:avLst/>
          </a:prstGeom>
          <a:noFill/>
          <a:ln/>
        </p:spPr>
        <p:txBody>
          <a:bodyPr wrap="square" lIns="0" tIns="0" rIns="0" bIns="0" rtlCol="0" anchor="ctr"/>
          <a:lstStyle/>
          <a:p>
            <a:pPr marL="0" indent="0">
              <a:buNone/>
            </a:pPr>
            <a:r>
              <a:rPr lang="en-US" sz="1100" b="1" dirty="0">
                <a:solidFill>
                  <a:srgbClr val="0F2D52"/>
                </a:solidFill>
                <a:latin typeface="Trebuchet MS" pitchFamily="34" charset="0"/>
                <a:ea typeface="Trebuchet MS" pitchFamily="34" charset="-122"/>
                <a:cs typeface="Trebuchet MS" pitchFamily="34" charset="-120"/>
              </a:rPr>
              <a:t>Payments signs off content</a:t>
            </a:r>
            <a:endParaRPr lang="en-US" sz="1100" dirty="0"/>
          </a:p>
        </p:txBody>
      </p:sp>
      <p:sp>
        <p:nvSpPr>
          <p:cNvPr id="43" name="Text 37"/>
          <p:cNvSpPr txBox="1"/>
          <p:nvPr/>
        </p:nvSpPr>
        <p:spPr>
          <a:xfrm>
            <a:off x="9473184" y="4270248"/>
            <a:ext cx="2240280" cy="548640"/>
          </a:xfrm>
          <a:prstGeom prst="rect">
            <a:avLst/>
          </a:prstGeom>
          <a:noFill/>
          <a:ln/>
        </p:spPr>
        <p:txBody>
          <a:bodyPr wrap="square" lIns="0" tIns="0" rIns="0" bIns="0" rtlCol="0" anchor="t"/>
          <a:lstStyle/>
          <a:p>
            <a:pPr marL="0" indent="0">
              <a:buNone/>
            </a:pPr>
            <a:r>
              <a:rPr lang="en-US" sz="950" dirty="0">
                <a:solidFill>
                  <a:srgbClr val="2B3440"/>
                </a:solidFill>
                <a:latin typeface="Calibri" pitchFamily="34" charset="0"/>
                <a:ea typeface="Calibri" pitchFamily="34" charset="-122"/>
                <a:cs typeface="Calibri" pitchFamily="34" charset="-120"/>
              </a:rPr>
              <a:t>SME sign-off before launch; stricter accuracy bar for wire procedures.</a:t>
            </a:r>
            <a:endParaRPr lang="en-US" sz="950" dirty="0"/>
          </a:p>
        </p:txBody>
      </p:sp>
      <p:sp>
        <p:nvSpPr>
          <p:cNvPr id="44" name="Shape 38"/>
          <p:cNvSpPr/>
          <p:nvPr/>
        </p:nvSpPr>
        <p:spPr>
          <a:xfrm>
            <a:off x="548640" y="4937760"/>
            <a:ext cx="6903720" cy="1371600"/>
          </a:xfrm>
          <a:prstGeom prst="roundRect">
            <a:avLst>
              <a:gd name="adj" fmla="val 5333"/>
            </a:avLst>
          </a:prstGeom>
          <a:solidFill>
            <a:srgbClr val="E8EEF6"/>
          </a:solidFill>
          <a:ln w="12700">
            <a:solidFill>
              <a:srgbClr val="E8EEF6"/>
            </a:solidFill>
            <a:prstDash val="solid"/>
          </a:ln>
        </p:spPr>
        <p:txBody>
          <a:bodyPr/>
          <a:lstStyle/>
          <a:p>
            <a:endParaRPr lang="en-US"/>
          </a:p>
        </p:txBody>
      </p:sp>
      <p:sp>
        <p:nvSpPr>
          <p:cNvPr id="45" name="Text 39"/>
          <p:cNvSpPr txBox="1"/>
          <p:nvPr/>
        </p:nvSpPr>
        <p:spPr>
          <a:xfrm>
            <a:off x="731520" y="5010912"/>
            <a:ext cx="6583680" cy="256032"/>
          </a:xfrm>
          <a:prstGeom prst="rect">
            <a:avLst/>
          </a:prstGeom>
          <a:noFill/>
          <a:ln/>
        </p:spPr>
        <p:txBody>
          <a:bodyPr wrap="square" lIns="0" tIns="0" rIns="0" bIns="0" rtlCol="0" anchor="ctr"/>
          <a:lstStyle/>
          <a:p>
            <a:pPr marL="0" indent="0">
              <a:buNone/>
            </a:pPr>
            <a:r>
              <a:rPr lang="en-US" sz="1150" b="1" dirty="0">
                <a:solidFill>
                  <a:srgbClr val="0F2D52"/>
                </a:solidFill>
                <a:latin typeface="Trebuchet MS" pitchFamily="34" charset="0"/>
                <a:ea typeface="Trebuchet MS" pitchFamily="34" charset="-122"/>
                <a:cs typeface="Trebuchet MS" pitchFamily="34" charset="-120"/>
              </a:rPr>
              <a:t>Gates to expand (total contacts, not calls alone)</a:t>
            </a:r>
            <a:endParaRPr lang="en-US" sz="1150" dirty="0"/>
          </a:p>
        </p:txBody>
      </p:sp>
      <p:sp>
        <p:nvSpPr>
          <p:cNvPr id="46" name="Text 40"/>
          <p:cNvSpPr txBox="1"/>
          <p:nvPr/>
        </p:nvSpPr>
        <p:spPr>
          <a:xfrm>
            <a:off x="731520" y="5285232"/>
            <a:ext cx="6583680" cy="777240"/>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2B3440"/>
                </a:solidFill>
                <a:latin typeface="Calibri" pitchFamily="34" charset="0"/>
                <a:ea typeface="Calibri" pitchFamily="34" charset="-122"/>
                <a:cs typeface="Calibri" pitchFamily="34" charset="-120"/>
              </a:rPr>
              <a:t>Cost-weighted total contacts (calls, service requests, email) per 1,000 active clients ≤ holdout + [X%]</a:t>
            </a:r>
            <a:endParaRPr lang="en-US" sz="1050" dirty="0"/>
          </a:p>
          <a:p>
            <a:pPr marL="342900" indent="-342900">
              <a:spcAft>
                <a:spcPts val="300"/>
              </a:spcAft>
              <a:buSzPct val="100000"/>
              <a:buChar char="•"/>
            </a:pPr>
            <a:r>
              <a:rPr lang="en-US" sz="1050" dirty="0">
                <a:solidFill>
                  <a:srgbClr val="2B3440"/>
                </a:solidFill>
                <a:latin typeface="Calibri" pitchFamily="34" charset="0"/>
                <a:ea typeface="Calibri" pitchFamily="34" charset="-122"/>
                <a:cs typeface="Calibri" pitchFamily="34" charset="-120"/>
              </a:rPr>
              <a:t>Assistant-attributed contacts ≤ [Y%]; 7-day repeat-contact rate ≤ baseline</a:t>
            </a:r>
            <a:endParaRPr lang="en-US" sz="1050" dirty="0"/>
          </a:p>
          <a:p>
            <a:pPr marL="342900" indent="-342900">
              <a:spcAft>
                <a:spcPts val="300"/>
              </a:spcAft>
              <a:buSzPct val="100000"/>
              <a:buChar char="•"/>
            </a:pPr>
            <a:r>
              <a:rPr lang="en-US" sz="1050" dirty="0">
                <a:solidFill>
                  <a:srgbClr val="2B3440"/>
                </a:solidFill>
                <a:latin typeface="Calibri" pitchFamily="34" charset="0"/>
                <a:ea typeface="Calibri" pitchFamily="34" charset="-122"/>
                <a:cs typeface="Calibri" pitchFamily="34" charset="-120"/>
              </a:rPr>
              <a:t>Unanswered-intent rate ≤ [Z%] and falling; no material accuracy incidents</a:t>
            </a:r>
            <a:endParaRPr lang="en-US" sz="1050" dirty="0"/>
          </a:p>
        </p:txBody>
      </p:sp>
      <p:sp>
        <p:nvSpPr>
          <p:cNvPr id="47" name="Text 41"/>
          <p:cNvSpPr txBox="1"/>
          <p:nvPr/>
        </p:nvSpPr>
        <p:spPr>
          <a:xfrm>
            <a:off x="731520" y="6053328"/>
            <a:ext cx="6583680" cy="201168"/>
          </a:xfrm>
          <a:prstGeom prst="rect">
            <a:avLst/>
          </a:prstGeom>
          <a:noFill/>
          <a:ln/>
        </p:spPr>
        <p:txBody>
          <a:bodyPr wrap="square" lIns="0" tIns="0" rIns="0" bIns="0" rtlCol="0" anchor="ctr"/>
          <a:lstStyle/>
          <a:p>
            <a:pPr marL="0" indent="0">
              <a:buNone/>
            </a:pPr>
            <a:r>
              <a:rPr lang="en-US" sz="900" dirty="0">
                <a:solidFill>
                  <a:srgbClr val="5A6270"/>
                </a:solidFill>
                <a:latin typeface="Calibri" pitchFamily="34" charset="0"/>
                <a:ea typeface="Calibri" pitchFamily="34" charset="-122"/>
                <a:cs typeface="Calibri" pitchFamily="34" charset="-120"/>
              </a:rPr>
              <a:t>Thresholds X, Y and Z to be agreed with Payments from the baseline data.</a:t>
            </a:r>
            <a:endParaRPr lang="en-US" sz="900" dirty="0"/>
          </a:p>
        </p:txBody>
      </p:sp>
      <p:sp>
        <p:nvSpPr>
          <p:cNvPr id="48" name="Shape 42"/>
          <p:cNvSpPr/>
          <p:nvPr/>
        </p:nvSpPr>
        <p:spPr>
          <a:xfrm>
            <a:off x="7635240" y="4937760"/>
            <a:ext cx="4023360" cy="1371600"/>
          </a:xfrm>
          <a:prstGeom prst="roundRect">
            <a:avLst>
              <a:gd name="adj" fmla="val 5333"/>
            </a:avLst>
          </a:prstGeom>
          <a:solidFill>
            <a:srgbClr val="F4F7FB"/>
          </a:solidFill>
          <a:ln w="12700">
            <a:solidFill>
              <a:srgbClr val="F4F7FB"/>
            </a:solidFill>
            <a:prstDash val="solid"/>
          </a:ln>
        </p:spPr>
        <p:txBody>
          <a:bodyPr/>
          <a:lstStyle/>
          <a:p>
            <a:endParaRPr lang="en-US"/>
          </a:p>
        </p:txBody>
      </p:sp>
      <p:sp>
        <p:nvSpPr>
          <p:cNvPr id="49" name="Text 43"/>
          <p:cNvSpPr txBox="1"/>
          <p:nvPr/>
        </p:nvSpPr>
        <p:spPr>
          <a:xfrm>
            <a:off x="7818120" y="5010912"/>
            <a:ext cx="3657600" cy="256032"/>
          </a:xfrm>
          <a:prstGeom prst="rect">
            <a:avLst/>
          </a:prstGeom>
          <a:noFill/>
          <a:ln/>
        </p:spPr>
        <p:txBody>
          <a:bodyPr wrap="square" lIns="0" tIns="0" rIns="0" bIns="0" rtlCol="0" anchor="ctr"/>
          <a:lstStyle/>
          <a:p>
            <a:pPr marL="0" indent="0">
              <a:buNone/>
            </a:pPr>
            <a:r>
              <a:rPr lang="en-US" sz="1150" b="1" dirty="0">
                <a:solidFill>
                  <a:srgbClr val="0F2D52"/>
                </a:solidFill>
                <a:latin typeface="Trebuchet MS" pitchFamily="34" charset="0"/>
                <a:ea typeface="Trebuchet MS" pitchFamily="34" charset="-122"/>
                <a:cs typeface="Trebuchet MS" pitchFamily="34" charset="-120"/>
              </a:rPr>
              <a:t>Next two weeks</a:t>
            </a:r>
            <a:endParaRPr lang="en-US" sz="1150" dirty="0"/>
          </a:p>
        </p:txBody>
      </p:sp>
      <p:sp>
        <p:nvSpPr>
          <p:cNvPr id="50" name="Text 44"/>
          <p:cNvSpPr txBox="1"/>
          <p:nvPr/>
        </p:nvSpPr>
        <p:spPr>
          <a:xfrm>
            <a:off x="7818120" y="5285232"/>
            <a:ext cx="3657600" cy="960120"/>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2B3440"/>
                </a:solidFill>
                <a:latin typeface="Calibri" pitchFamily="34" charset="0"/>
                <a:ea typeface="Calibri" pitchFamily="34" charset="-122"/>
                <a:cs typeface="Calibri" pitchFamily="34" charset="-120"/>
              </a:rPr>
              <a:t>Pull the Payments baseline: call volumes and reason codes</a:t>
            </a:r>
            <a:endParaRPr lang="en-US" sz="1050" dirty="0"/>
          </a:p>
          <a:p>
            <a:pPr marL="342900" indent="-342900">
              <a:spcAft>
                <a:spcPts val="300"/>
              </a:spcAft>
              <a:buSzPct val="100000"/>
              <a:buChar char="•"/>
            </a:pPr>
            <a:r>
              <a:rPr lang="en-US" sz="1050" dirty="0">
                <a:solidFill>
                  <a:srgbClr val="2B3440"/>
                </a:solidFill>
                <a:latin typeface="Calibri" pitchFamily="34" charset="0"/>
                <a:ea typeface="Calibri" pitchFamily="34" charset="-122"/>
                <a:cs typeface="Calibri" pitchFamily="34" charset="-120"/>
              </a:rPr>
              <a:t>Size the cohort for statistical power</a:t>
            </a:r>
            <a:endParaRPr lang="en-US" sz="1050" dirty="0"/>
          </a:p>
          <a:p>
            <a:pPr marL="342900" indent="-342900">
              <a:spcAft>
                <a:spcPts val="300"/>
              </a:spcAft>
              <a:buSzPct val="100000"/>
              <a:buChar char="•"/>
            </a:pPr>
            <a:r>
              <a:rPr lang="en-US" sz="1050" dirty="0">
                <a:solidFill>
                  <a:srgbClr val="2B3440"/>
                </a:solidFill>
                <a:latin typeface="Calibri" pitchFamily="34" charset="0"/>
                <a:ea typeface="Calibri" pitchFamily="34" charset="-122"/>
                <a:cs typeface="Calibri" pitchFamily="34" charset="-120"/>
              </a:rPr>
              <a:t>Charter the joint group; start wire help content review</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1897</Words>
  <Application>Microsoft Macintosh PowerPoint</Application>
  <PresentationFormat>Widescreen</PresentationFormat>
  <Paragraphs>147</Paragraphs>
  <Slides>4</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Trebuchet MS</vt:lpstr>
      <vt:lpstr>Office Theme</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Vantage Assistant customer launch: executive summary</dc:title>
  <dc:subject>PptxGenJS Presentation</dc:subject>
  <dc:creator>Commercial Banking Digital Technology</dc:creator>
  <cp:lastModifiedBy>Sudhindra Balaji</cp:lastModifiedBy>
  <cp:revision>2</cp:revision>
  <dcterms:created xsi:type="dcterms:W3CDTF">2026-09-27T05:10:57Z</dcterms:created>
  <dcterms:modified xsi:type="dcterms:W3CDTF">2026-09-27T14:29:34Z</dcterms:modified>
</cp:coreProperties>
</file>
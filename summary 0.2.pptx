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82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slide. The proposal launches the scope Payments can agree to: instant payments, cash balances, their help/FAQ content, navigation help and non-transaction servicing. Positioned help-first. Payments holds the pull-back triggers. Three asks: approve scope and phasing; charter the joint group in two weeks; accept residual risk once the five launch conditions (slide 4) are evidenced. Wires are out and not argued; if asked, the answer is that no decision on them is requested and nothing here presumes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evidence: Kumar &amp; Telang 2012, difference-in-differences at a U.S. health insurer; web self-service raised calls 14% overall, cut calls for unambiguous retrievable information 29%, raised calls for ambiguous information 66%. Pre-GenAI and not banking, so directional. Balances and instant-payment status are the unambiguous category. Gartner (vendor) 2024: only 14% of issues fully resolved in self-service; top failure is not finding content, which is what help retrieval over guides fixes. Gartner 2026: 74% of B2B GenAI users have used it to complete a task, which is the expectation gap; help-first positioning is the mitigation. BofA and DBS figures are company-reported with no control group. BofA launched to all clients with no published holdout; this proposal is more conservative.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options. Option 1 defers, which looks risk-free but has real costs on nobody’s ledger. Option 2 launches everything as built over a live objection, closest to what BofA did in 2023, but it forfeits Payments co-ownership. Option 3 launches the uncontested scope with Payments holding the triggers. The four design choices apply regardless. The working document (Section 7) has the internal data needed to justify each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instant payments, cash balances, their help/FAQ content, navigation help, non-transaction servicing. Wires out, no decision requested; help content for other products optional and droppable. Launch-ready is five evidenced conditions, then residual risk accepted on the record as on any release. Payments holds the pull-back triggers and can fire them; Digital does not override during Phase 1. Gates to expand are on cost-weighted total contacts so channel shift into service requests cannot game a calls-only gate. Thresholds X, Y, Z and trigger levels to be agreed from the baseline. Statistical power must be checked before committing to the pilot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SAFARI: the launch decision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for instant payments and cash balances. Build complete, governance complete. Payments holds the brakes.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customer launch  |  Executive summary  |  Draft for discussion  |  Evidence labelled independent, company-reported or vendor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874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and governed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1854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summarisation only; no payment actions. The assistant reads balances and payment data through the same APIs and controls as Vantage web. All internal governance checks complete.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0098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3172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Payments’ concern: a new assistant will drive calls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348386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routes: unanswerable questions become calls; more visibility prompts inquiries; a new channel adds demand; clients expect more than the web and call when they hit the limits.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994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44714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proposal does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478231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instant payments, cash balances, their help/FAQ content and non-transaction servicing, positioned as “ask instead of reading the guide.” Internal use first, then a client cohort with a holdout. Payments holds objective pull-back triggers throughout.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680960" y="146304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79552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955280" y="2121408"/>
            <a:ext cx="310896" cy="310896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795528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the scope and phasing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66760" y="25786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payments and cash balances, with their help content and non-transaction servicing. Internal use for 2–4 weeks, then a client cohort for 8–12 weeks.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955280" y="3401568"/>
            <a:ext cx="310896" cy="310896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795528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3667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Charter a joint Payments–Digital group within two weeks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366760" y="3858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supply the baseline contact data, set the pull-back triggers and thresholds, and co-own the readout.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955280" y="4681728"/>
            <a:ext cx="310896" cy="310896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795528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3667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 residual risk once five launch conditions are evidenced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8366760" y="51389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decision the bank makes on any Vantage release: bounded scope, a backstop, reversibility and monitoring, not zero risk.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6D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Wires are not part of this proposal. No decision on them is requested.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evidence says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cuts calls for clear, findable information and raises them for ambiguous information. This scope is the clearest information on the platform.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customer launch  |  Executive summary  |  Draft for discussion  |  Evidence labelled independent, company-reported or vendor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−29%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5544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for unambiguous, easily retrievable information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&amp; Telang, Information Systems Research 2012. Independent; U.S. insurer; pre-GenAI.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+66%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5544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about ambiguous information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&amp; Telang, Information Systems Research 2012. Independent; U.S. insurer; pre-GenAI.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0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10104120" y="15544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in calls after web self-service was added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&amp; Telang, Information Systems Research 2012. Independent; U.S. insurer; pre-GenAI.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Payments’ four mechanisms, applied to this scope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583680" cy="2423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Mechanism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 this scope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the launch does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Unanswerable questions become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 dead end: the right Vantage page, a structured service request, or a person. Payments can pull any intent that generates calls.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prompts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Balances and instant-payment status are unambiguous; instant payments have no exception queue to surface.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channel adds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data, same paths as Vantage web. More reversible than a web release: one intent at a time, without a release.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Expectation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Help-first positioning sets expectations before the first question; capability card and prompt chips keep users inside supported intents.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06640" y="3063240"/>
            <a:ext cx="4251960" cy="3154680"/>
          </a:xfrm>
          <a:prstGeom prst="roundRect">
            <a:avLst>
              <a:gd name="adj" fmla="val 23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635240" y="3200400"/>
            <a:ext cx="384048" cy="384048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412" y="3292572"/>
            <a:ext cx="199705" cy="19970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3218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precedent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65760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BofA CashPro Chat. </a:t>
            </a: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as the web, added to an existing chat channel for all clients, no published holdout. Approximately 65–70% of corporate clients use it; 43% containment, the rest routed to live experts in under 30 seconds; coverage doubled in about 18 months. Company-reported; no phone-volume figure published.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Joy. </a:t>
            </a: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to all corporate clients in nine months; approximately 7% fewer calls or emails. Company-reported, before/after.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has published a control-group result. </a:t>
            </a: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holdout would make ours the first.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635240" y="5623560"/>
            <a:ext cx="3840480" cy="457200"/>
          </a:xfrm>
          <a:prstGeom prst="rect">
            <a:avLst/>
          </a:prstGeom>
          <a:solidFill>
            <a:srgbClr val="FFF4B8"/>
          </a:solidFill>
          <a:ln w="12700">
            <a:solidFill>
              <a:srgbClr val="FFF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7726680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(to insert): instant-payment and balance calls per month; share that are status inquiries versus “how do I”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Options considered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launch options. The recommendation launches the scope where each of the four mechanisms is weakest, with Payments in control of the stop.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customer launch  |  Executive summary  |  Draft for discussion  |  Evidence labelled independent, company-reported or vendor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697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Scope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How it addresses the Payments concern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Strategic value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Principal risk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D5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 Defer the launch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customer launch until every scope question is settled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Fully, by not launching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now; governance approvals age; peers extend their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delay; no production learning; governance re-review. Deferral looks risk-free because its costs sit on nobody’s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D5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2. Launch the full built scope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built, including products Payments has not agreed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addressed; relies on design mitigations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learning; fastest path to the intelligence-layer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over a live objection; forfeits the co-ownership an assistant needs to succeed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D5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3. Launch instant payments and cash balances now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payments, cash balances, their help/FAQ content, navigation help, non-transaction servicing. Help content for other products optional, at Payments’ discretion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the scope where each mechanism is weakest; Payments holds the pull-back triggers; contact effect measured with a holdout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learning on the intents the roadmap needs; a measured result instead of an argument; Payments co-ownership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initial value to clients; help-first risks anchoring as “the FAQ bot”; content accuracy becomes the critical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343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choices that apply to any option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13232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Rollout: cohort with holdout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5212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rollout leaves no way to attribute contact changes to the assistant. A randomised holdout does, in both directions.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4663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502152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internal first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02152" y="5212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Client-services reps and RMs use it for 2–4 weeks. Failed intents fixed before clients see them; reps become promoters.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4663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291072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Gate: total contacts, not calls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291072" y="5212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calls-only gate can be passed by shifting demand into service requests. Cost-weighted total contacts cannot.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15400" y="4663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079992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Positioning: help-first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079992" y="5212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instead of reading the guide.” Sets expectations before the first question; the pattern CBA used for business clients.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proposed launch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Help-first, with Payments holding the brakes. Positioning: “Ask instead of reading the guide. SAFARI answers your instant payments and balances questions, and looks them up for you.”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customer launch  |  Executive summary  |  Draft for discussion  |  Evidence labelled independent, company-reported or vendor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194560" cy="224028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launch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7452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payments: status and details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and FAQs for both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help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Non-transaction servicing (limits, templates, access)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463040"/>
            <a:ext cx="2194560" cy="224028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44952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in this launch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transaction data and wire-specific servicing. No decision requested.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Help/FAQ content for other payment products, at Payments’ discretion; can be dropped without affecting the launch.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46304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376672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Launch-ready when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18745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tests pass on in-scope intents (disambiguation on balances and instant payments; help answers signed off by Payments SMEs)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answer shows account, as-of time and a link; every help answer cites its source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 ends: page, service request, or person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and intent-level toggles work without a release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complete (done)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1783080"/>
            <a:ext cx="2926080" cy="585216"/>
          </a:xfrm>
          <a:prstGeom prst="rect">
            <a:avLst/>
          </a:prstGeom>
          <a:solidFill>
            <a:srgbClr val="F4F7FB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823960" y="18105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0: Internal  </a:t>
            </a:r>
            <a:r>
              <a:rPr lang="en-US" sz="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0299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and RMs first; failed intents fixed before clients see them.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732520" y="2441448"/>
            <a:ext cx="2926080" cy="585216"/>
          </a:xfrm>
          <a:prstGeom prst="rect">
            <a:avLst/>
          </a:prstGeom>
          <a:solidFill>
            <a:srgbClr val="E8EEF6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23960" y="24688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Client cohort  </a:t>
            </a:r>
            <a:r>
              <a:rPr lang="en-US" sz="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holdout; daily readout for two weeks, then weekly.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32520" y="3099816"/>
            <a:ext cx="2926080" cy="585216"/>
          </a:xfrm>
          <a:prstGeom prst="rect">
            <a:avLst/>
          </a:prstGeom>
          <a:solidFill>
            <a:srgbClr val="F4F7FB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823960" y="31272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on evidence  </a:t>
            </a:r>
            <a:r>
              <a:rPr lang="en-US" sz="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agreed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34670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cohort; any addition proposed to the joint group with its own test.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3232" y="4023360"/>
            <a:ext cx="329184" cy="329184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36" y="4102364"/>
            <a:ext cx="171176" cy="17117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143000" y="4041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 holds the brakes: pull-back triggers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material accuracy incident on a data answer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Assistant-attributed contacts above [trigger] for [n] consecutive days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Unanswered-intent rate above [trigger] on any intent (pulls that intent, not the assistant)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daily for two weeks, then weekly. Digital cannot override during Phase 1.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126480" y="39319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291072" y="4023360"/>
            <a:ext cx="329184" cy="329184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076" y="4102364"/>
            <a:ext cx="171176" cy="17117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720840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Gates to expand (thresholds agreed with Payments)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6291072" y="4389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Cost-weighted total contacts (calls, requests, email) per 1,000 active clients ≤ holdout + [X%]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Assistant-attributed contacts ≤ [Y%]; 7-day repeat-contact rate ≤ baseline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Unanswered-intent rate ≤ [Z%] and falling; no open pull-back trigger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548640" y="55321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713232" y="5577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paths. </a:t>
            </a: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calls the services Vantage web calls and renders the result. Incremental risk is confined to question interpretation and rendering, both tested before launch, and withdrawable one intent at a time.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126480" y="553212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6291072" y="55778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two weeks. </a:t>
            </a:r>
            <a:r>
              <a:rPr lang="en-US" sz="9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Payments baseline (call volumes and reason codes); size the cohort for statistical power; charter the joint group; start SME review of the help content.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</Words>
  <Application>Microsoft Macintosh PowerPoint</Application>
  <PresentationFormat>Widescreen</PresentationFormat>
  <Paragraphs>136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Vantage Assistant customer launch: executive summary</dc:title>
  <dc:subject>PptxGenJS Presentation</dc:subject>
  <dc:creator>Commercial Banking Digital Technology</dc:creator>
  <cp:lastModifiedBy>Sudhindra Balaji</cp:lastModifiedBy>
  <cp:revision>2</cp:revision>
  <dcterms:created xsi:type="dcterms:W3CDTF">2026-09-27T09:52:09Z</dcterms:created>
  <dcterms:modified xsi:type="dcterms:W3CDTF">2026-09-27T14:29:11Z</dcterms:modified>
</cp:coreProperties>
</file>
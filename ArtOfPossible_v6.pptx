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80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straight on. No housekeeping. Title stays up for 10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chosen video directly into this slide as an embedded video object in PowerPoint before the event. Do not rely on launching a browser. Test on the actual venue screen at resolution 1080p/16:9.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 the history sequence slowly. The audience knows these shifts. Let the 'already shipping' box land before you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'why the window is open NOW, not three years ago.' The economics answer that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three flops with dry humour — let the audience laugh. Willy's is the funniest, Air Canada is the most legally sobering. Then pivot: 'These aren't AI failures. They're judgment failures. And that judgment lives in this room.' Move quickly — 90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does three jobs: confirms consumer trust, surfaces the corporate banking opportunity, and names mobile as the competitive terrain. Say: 'This is not research. This is a permission slip.'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play immediately. No further setup. After: 'That wasn't a research lab. That was someone who, two years ago, could not have built that.'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134 digital employees — most vivid. The Wells Fargo Fargo stat (245M) is ours — flag it explicitly: 'And that last one? That's us.' Close: 'This is not the future. This is Tuesday.'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Willy's with dry humour. Pause after the police line. Then pivot hard to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loop diagram as you speak. The three nodes are the argument: human expertise + AI capability, compounding through each use. Say the sovereignty test out loud: 'Can you swap the model without losing the expertise?' Pause. 'If not, you're renting.'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pivot. Say explicitly: 'Those were their numbers. Now here are ours.' Pause. No need to oversell — let the contrast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horizon doubling is METR — independently measured. 80%/76%/64% are Anthropic-sourced — flag this. Bridge to close: 'The companies building AI are now using AI to build better AI. The teams in this room are part of that acceleration.'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stop after 'We are the build.' Let it land. Read the final line. Then move immediately to the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presenters. Say 'Let's show you.' Hand off immediately. Energy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 of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457200" y="19019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Possible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097280" y="29992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GenAI can do today — and what we are already building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 ·  KEYNOTE  →  LIVE DEMOS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OPENING VIDEO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video — 2–3 minutes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114800" cy="3547872"/>
          </a:xfrm>
          <a:prstGeom prst="roundRect">
            <a:avLst>
              <a:gd name="adj" fmla="val 3093"/>
            </a:avLst>
          </a:prstGeom>
          <a:solidFill>
            <a:srgbClr val="0B1F3A"/>
          </a:solidFill>
          <a:ln w="254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65960" y="2304288"/>
            <a:ext cx="1097280" cy="1097280"/>
          </a:xfrm>
          <a:prstGeom prst="ellipse">
            <a:avLst/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245059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605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VIDEO PLAYS HERE 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553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Cue: 'Now let me show you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looks like.'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00600" y="1261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options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664208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EBF6FF"/>
          </a:solidFill>
          <a:ln w="12700">
            <a:solidFill>
              <a:srgbClr val="2980D4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773936"/>
            <a:ext cx="402336" cy="402336"/>
          </a:xfrm>
          <a:prstGeom prst="ellipse">
            <a:avLst/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19472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76672" y="17007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298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376672" y="1883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AI-generated (Veo 3 + ElevenLabs)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76672" y="21579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 this keynote's exact theme. 60–90 sec. 2–3 days. ~$100.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personalisation — references our own story.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00600" y="2798064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919472" y="2907792"/>
            <a:ext cx="402336" cy="402336"/>
          </a:xfrm>
          <a:prstGeom prst="ellipse">
            <a:avLst/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19472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76672" y="28895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montage (Artgrid / Storyblocks)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76672" y="3182112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License-cleared human + tech footage. Edit in CapCut.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~$25–$49 subscription. Safest backup option.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800600" y="3931920"/>
            <a:ext cx="3886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919472" y="4041648"/>
            <a:ext cx="402336" cy="402336"/>
          </a:xfrm>
          <a:prstGeom prst="ellipse">
            <a:avLst/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19472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76672" y="4023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'I Am AI' (tonal reference)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76672" y="431596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youtube.com/watch?v=jMW8_YVFgzY — watch for tone only.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— cannot be re-broadcast as your own.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800600" y="4626864"/>
            <a:ext cx="3886200" cy="329184"/>
          </a:xfrm>
          <a:prstGeom prst="roundRect">
            <a:avLst>
              <a:gd name="adj" fmla="val 16667"/>
            </a:avLst>
          </a:prstGeom>
          <a:solidFill>
            <a:srgbClr val="FFF8EC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19472" y="46268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awe + urgency. Human &amp; grounded. No glowing brains.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THE WINDOW OPENED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62F52"/>
          </a:solidFill>
          <a:ln w="12700">
            <a:solidFill>
              <a:srgbClr val="162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Press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93392" y="877824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D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75688" y="713232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62F52"/>
          </a:solidFill>
          <a:ln w="12700">
            <a:solidFill>
              <a:srgbClr val="162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75688" y="7589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75688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877824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D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48456" y="713232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62F52"/>
          </a:solidFill>
          <a:ln w="12700">
            <a:solidFill>
              <a:srgbClr val="162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48456" y="7589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48456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38928" y="877824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D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21224" y="713232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62F52"/>
          </a:solidFill>
          <a:ln w="12700">
            <a:solidFill>
              <a:srgbClr val="162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21224" y="7589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21224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11696" y="877824"/>
            <a:ext cx="164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D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93992" y="713232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93992" y="75895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93992" y="11887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188366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8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decade or so, a window opens.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23591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shift. The capability arrives. The timing aligns.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274320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organisations that move in that window set the terms for everyone who comes after.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255264"/>
            <a:ext cx="8046720" cy="22860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40156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kinds of organisations in 2026.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767328"/>
            <a:ext cx="3749040" cy="877824"/>
          </a:xfrm>
          <a:prstGeom prst="roundRect">
            <a:avLst>
              <a:gd name="adj" fmla="val 8333"/>
            </a:avLst>
          </a:prstGeom>
          <a:solidFill>
            <a:srgbClr val="152840"/>
          </a:solidFill>
          <a:ln w="12700">
            <a:solidFill>
              <a:srgbClr val="1E3F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382219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still debating whether to move.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34840" y="3767328"/>
            <a:ext cx="4206240" cy="877824"/>
          </a:xfrm>
          <a:prstGeom prst="roundRect">
            <a:avLst>
              <a:gd name="adj" fmla="val 8333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382219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Those already shipping.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 1 OF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floor collapsed — and it changes everything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31920" cy="3584448"/>
          </a:xfrm>
          <a:prstGeom prst="roundRect">
            <a:avLst>
              <a:gd name="adj" fmla="val 255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window is open 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773936"/>
            <a:ext cx="352958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years the question was 'Is AI good enough?' That question is settled.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question is 'Is AI affordable enough?' That question was just answered.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prices fell ~75% in 12 months — from ~$10 to ~$2.50 per million tokens. The trajectory hasn't flattened.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your team wanted to fix but couldn't justify — the niche process, the one-team exception, the client-specific rule — the economics now work. The threshold is gone.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206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40817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93792" y="13350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736592" y="181051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frontier model prices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36592" y="2039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→ ~$2.50 per million tokens in 12 months. The trajectory continues.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0" y="2450592"/>
            <a:ext cx="4206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59689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3792" y="25237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5–30×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736592" y="299923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 consumed by agents vs. chat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36592" y="32278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units, bigger bills. Jevons' Paradox at scale — even as unit price falls, total AI spend is rising.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572000" y="3639312"/>
            <a:ext cx="4206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78561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37124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60–90%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4736592" y="418795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via routing + caching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736592" y="441655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 cuts average query cost 60–86%. Semantic caching cuts input cost up to 90%. Engineer the curve.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 2 OF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Cheaper tokens ≠ cheaper AI — and here's what bad looks like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8EC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898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1316736"/>
            <a:ext cx="7424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Uber's CTO exhausted the company's full-year 2026 AI budget by April — Claude Code adoption jumped from 32% to 84% of engineers in one month. Token prices fell. Total spend exploded. ROI from AI is not self-executing.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there's no judgment in the loop: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395728"/>
            <a:ext cx="2633472" cy="2267712"/>
          </a:xfrm>
          <a:prstGeom prst="roundRect">
            <a:avLst>
              <a:gd name="adj" fmla="val 4032"/>
            </a:avLst>
          </a:prstGeom>
          <a:solidFill>
            <a:srgbClr val="FFF3CD"/>
          </a:solidFill>
          <a:ln w="1524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487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🍫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78992" y="248716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Willy's Chocolate Experience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78992" y="27797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Glasgow · Feb 2024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" y="3017520"/>
            <a:ext cx="23591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promo imagery showed a magical wonderland. Reality: empty warehouse, limp bouncy castle, 2 jellybeans per child. Police called.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2450592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" y="404164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AI failure. A judgment failure. AI just amplified it.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55264" y="2395728"/>
            <a:ext cx="2633472" cy="2267712"/>
          </a:xfrm>
          <a:prstGeom prst="roundRect">
            <a:avLst>
              <a:gd name="adj" fmla="val 4032"/>
            </a:avLst>
          </a:prstGeom>
          <a:solidFill>
            <a:srgbClr val="FFE8E8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392424" y="2487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877056" y="248716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Chevrolet Dealer Chatbot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77056" y="27797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Dec 2023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92424" y="3017520"/>
            <a:ext cx="23591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dealership deployed an AI assistant. A customer prompted it to agree to sell a $76,000 Chevy Tahoe for $1. The bot obliged: 'That's a deal, and I'll honour it.'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346704" y="4023360"/>
            <a:ext cx="2450592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419856" y="404164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guardrails. No entitlement logic. The bot had no idea what it could promise.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53328" y="2395728"/>
            <a:ext cx="2633472" cy="2267712"/>
          </a:xfrm>
          <a:prstGeom prst="roundRect">
            <a:avLst>
              <a:gd name="adj" fmla="val 4032"/>
            </a:avLst>
          </a:prstGeom>
          <a:solidFill>
            <a:srgbClr val="E8F0FF"/>
          </a:solidFill>
          <a:ln w="1524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90488" y="2487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675120" y="248716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Canada Bereavement Fare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675120" y="27797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· 2024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90488" y="3017520"/>
            <a:ext cx="23591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Canada's AI chatbot promised a bereavement discount that didn't exist. A tribunal ruled Air Canada was liable for its bot's hallucination. Fine: $650.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44768" y="4023360"/>
            <a:ext cx="2450592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217920" y="404164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create legal liability. 'The bot said it' is not a defence.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customers are already expecting this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anomaly detection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0" y="1362456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0" y="1362456"/>
            <a:ext cx="1960474" cy="237744"/>
          </a:xfrm>
          <a:prstGeom prst="roundRect">
            <a:avLst>
              <a:gd name="adj" fmla="val 19231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34026" y="132588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56832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Asia: 74% HK · 68% SG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insights &amp; credit guidance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801368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801368"/>
            <a:ext cx="1931213" cy="237744"/>
          </a:xfrm>
          <a:prstGeom prst="roundRect">
            <a:avLst>
              <a:gd name="adj" fmla="val 19231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04765" y="176479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2037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service (human backup)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2240280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2240280"/>
            <a:ext cx="1609344" cy="237744"/>
          </a:xfrm>
          <a:prstGeom prst="roundRect">
            <a:avLst>
              <a:gd name="adj" fmla="val 19231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82896" y="220370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426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advice (human in loop)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2679192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2679192"/>
            <a:ext cx="1170432" cy="237744"/>
          </a:xfrm>
          <a:prstGeom prst="roundRect">
            <a:avLst>
              <a:gd name="adj" fmla="val 19231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43984" y="264261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0815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recommendations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3118104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0" y="3118104"/>
            <a:ext cx="526694" cy="237744"/>
          </a:xfrm>
          <a:prstGeom prst="roundRect">
            <a:avLst>
              <a:gd name="adj" fmla="val 19231"/>
            </a:avLst>
          </a:prstGeom>
          <a:solidFill>
            <a:srgbClr val="7AAAD0"/>
          </a:solidFill>
          <a:ln w="12700">
            <a:solidFill>
              <a:srgbClr val="7AA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00246" y="308152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5387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Bank AI Insights 2026 · n=2,504 · RFI Global Asia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20640" y="1298448"/>
            <a:ext cx="3566160" cy="1115568"/>
          </a:xfrm>
          <a:prstGeom prst="roundRect">
            <a:avLst>
              <a:gd name="adj" fmla="val 8197"/>
            </a:avLst>
          </a:prstGeom>
          <a:solidFill>
            <a:srgbClr val="EBF6FF"/>
          </a:solidFill>
          <a:ln w="12700">
            <a:solidFill>
              <a:srgbClr val="2980D4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1426464"/>
            <a:ext cx="329184" cy="32918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687568" y="138988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is where the battle is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285232" y="1700784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of retail banking customers now prefer mobile as their primary channel (FIS 2026). AI-powered mobile features — proactive alerts, voice queries, instant document processing — are the #1 retention driver for under-40s.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5120640" y="2542032"/>
            <a:ext cx="3566160" cy="1115568"/>
          </a:xfrm>
          <a:prstGeom prst="roundRect">
            <a:avLst>
              <a:gd name="adj" fmla="val 8197"/>
            </a:avLst>
          </a:prstGeom>
          <a:solidFill>
            <a:srgbClr val="EBF6FF"/>
          </a:solidFill>
          <a:ln w="12700">
            <a:solidFill>
              <a:srgbClr val="1355A0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2670048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687568" y="263347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forecasting: the #1 corporate ask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285232" y="2944368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corporate treasurers name AI cash forecasting as their top AI priority. Yet 60%+ of banks still can't offer real-time forecasting. The demand is ahead of the supply — that gap is ours.</a:t>
            </a:r>
            <a:endParaRPr lang="en-US" sz="880" dirty="0"/>
          </a:p>
        </p:txBody>
      </p:sp>
      <p:sp>
        <p:nvSpPr>
          <p:cNvPr id="35" name="Shape 31"/>
          <p:cNvSpPr/>
          <p:nvPr/>
        </p:nvSpPr>
        <p:spPr>
          <a:xfrm>
            <a:off x="5120640" y="3785616"/>
            <a:ext cx="3566160" cy="1115568"/>
          </a:xfrm>
          <a:prstGeom prst="roundRect">
            <a:avLst>
              <a:gd name="adj" fmla="val 8197"/>
            </a:avLst>
          </a:prstGeom>
          <a:solidFill>
            <a:srgbClr val="EBF6FF"/>
          </a:solidFill>
          <a:ln w="12700">
            <a:solidFill>
              <a:srgbClr val="1355A0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3913632"/>
            <a:ext cx="329184" cy="32918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687568" y="387705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gradient is precise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5285232" y="4187952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draw a clear line: yes to fraud, insights, and service — not yet to autonomous decisions. This is not a research finding. This is a permission slip, signed by your customers.</a:t>
            </a:r>
            <a:endParaRPr lang="en-US" sz="880" dirty="0"/>
          </a:p>
        </p:txBody>
      </p:sp>
      <p:sp>
        <p:nvSpPr>
          <p:cNvPr id="39" name="Shape 34"/>
          <p:cNvSpPr/>
          <p:nvPr/>
        </p:nvSpPr>
        <p:spPr>
          <a:xfrm>
            <a:off x="457200" y="462686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40080" y="462686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green light on fraud. Cash forecasting demand unmet. Mobile is the battleground. The permission is there — the question is who moves first.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WHAT THE MOMENT LOOKS LIKE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let me show you what this looks like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someone actually builds it.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1627632"/>
            <a:ext cx="4572000" cy="2578608"/>
          </a:xfrm>
          <a:prstGeom prst="roundRect">
            <a:avLst>
              <a:gd name="adj" fmla="val 4255"/>
            </a:avLst>
          </a:prstGeom>
          <a:solidFill>
            <a:srgbClr val="122D52"/>
          </a:solidFill>
          <a:ln w="254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23360" y="2414016"/>
            <a:ext cx="1097280" cy="1097280"/>
          </a:xfrm>
          <a:prstGeom prst="ellipse">
            <a:avLst/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4" y="256032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B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— 2.5 MINUTES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459028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builder with zero coding background ships real software in plain English.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completes an end-to-end financial task without opening a portal.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·  THIS IS TUESDAY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production today. Not a roadmap.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verified from public disclosures, 2025–2026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980D4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29000" y="1499616"/>
            <a:ext cx="896112" cy="201168"/>
          </a:xfrm>
          <a:prstGeom prst="roundRect">
            <a:avLst>
              <a:gd name="adj" fmla="val 18182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49961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</a:t>
            </a:r>
            <a:endParaRPr lang="en-US" sz="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5544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14813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03504" y="19751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"Digital employees" — with email addresses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3504" y="2249424"/>
            <a:ext cx="3685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US custodian bank has 134 digital employees in production: real credentials, real email addresses, working payments operations around the clock. Supervised by humans.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17720" y="1426464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5544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21224" y="14813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900M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764024" y="19751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app monthly users — doubled in 12 months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64024" y="2249424"/>
            <a:ext cx="3685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I/O May 2026: Gemini doubled from 400M to 900M monthly active users in a year. AI Overviews: 2.5B monthly users. APIs processing ~19B tokens per minute.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457200" y="3621024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980D4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429000" y="3694176"/>
            <a:ext cx="896112" cy="201168"/>
          </a:xfrm>
          <a:prstGeom prst="roundRect">
            <a:avLst>
              <a:gd name="adj" fmla="val 18182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429000" y="369417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</a:t>
            </a:r>
            <a:endParaRPr lang="en-US" sz="7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749040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0704" y="36758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245M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603504" y="416966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 Fargo assistant interactions in 2024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03504" y="4443984"/>
            <a:ext cx="3685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Fargo assistant ran 245M customer interactions in 2024 — up from 21M in 2023. Zero human handoffs. PII never enters the model. 1B+ cumulative since launch.</a:t>
            </a:r>
            <a:endParaRPr lang="en-US" sz="880" dirty="0"/>
          </a:p>
        </p:txBody>
      </p:sp>
      <p:sp>
        <p:nvSpPr>
          <p:cNvPr id="25" name="Shape 20"/>
          <p:cNvSpPr/>
          <p:nvPr/>
        </p:nvSpPr>
        <p:spPr>
          <a:xfrm>
            <a:off x="4617720" y="3621024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374904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21224" y="36758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$1.5B</a:t>
            </a:r>
            <a:endParaRPr lang="en-US" sz="3200" dirty="0"/>
          </a:p>
        </p:txBody>
      </p:sp>
      <p:sp>
        <p:nvSpPr>
          <p:cNvPr id="28" name="Text 22"/>
          <p:cNvSpPr/>
          <p:nvPr/>
        </p:nvSpPr>
        <p:spPr>
          <a:xfrm>
            <a:off x="4764024" y="416966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fraud detection + operational efficiency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764024" y="4443984"/>
            <a:ext cx="3685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US universal bank. 200,000 employees on its LLM platform within 8 months. Fraud detection 300× faster. Goldman Sachs: 3–4× coding productivity with AI agents.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DEMANDS  1 OF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what I won't tell you: that AI is uniformly brilliant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Jagged Frontier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773936"/>
            <a:ext cx="352958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superhuman on some tasks, shockingly bad on others — and the boundary is unpredictable.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SWE-Bench: frontier models went from low single digits to near-saturation in two years.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METR found developers 19% slower with AI on familiar codebases — while believing they were 20% faster.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is not that AI is too powerful. The danger is that you won't know where the edge is until you fall off it.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that matters most is telling the difference. That judgment lives in this room.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61872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8EC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33502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 vs  THE REALITY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28032" y="159105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Willy's Chocolate Experience · Glasgow · Feb 2024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865376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£35/ticket · 'A world of pure imagination' · AI-generated promo imagery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Empty warehouse · limp bouncy castle · 2 jellybeans per child · police called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2944368"/>
            <a:ext cx="4023360" cy="1883664"/>
          </a:xfrm>
          <a:prstGeom prst="roundRect">
            <a:avLst>
              <a:gd name="adj" fmla="val 4854"/>
            </a:avLst>
          </a:prstGeom>
          <a:solidFill>
            <a:srgbClr val="F0F6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305409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3346704"/>
            <a:ext cx="36941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 the images. AI wrote the script. A human approved all of it without asking: can we actually deliver this?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an AI failure. That is a judgment failure.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not bureaucracy — it is the product. And it is our competitive advantage.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DEMANDS  2 OF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loop is the new IP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BF3FC"/>
          </a:solidFill>
          <a:ln w="12700">
            <a:solidFill>
              <a:srgbClr val="C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 offload a task — or even a job — but you can never offload your learning."  — Satya Nadella, Microsoft CEO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" y="2029968"/>
            <a:ext cx="1737360" cy="987552"/>
          </a:xfrm>
          <a:prstGeom prst="roundRect">
            <a:avLst>
              <a:gd name="adj" fmla="val 925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1945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2103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0392" y="2414016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075688" y="2359152"/>
            <a:ext cx="219456" cy="329184"/>
          </a:xfrm>
          <a:prstGeom prst="roundRect">
            <a:avLst>
              <a:gd name="adj" fmla="val 25000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075688" y="235915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331720" y="2029968"/>
            <a:ext cx="1737360" cy="987552"/>
          </a:xfrm>
          <a:prstGeom prst="roundRect">
            <a:avLst>
              <a:gd name="adj" fmla="val 9259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21945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2103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Capital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880360" y="2414016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data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105656" y="2359152"/>
            <a:ext cx="219456" cy="329184"/>
          </a:xfrm>
          <a:prstGeom prst="roundRect">
            <a:avLst>
              <a:gd name="adj" fmla="val 25000"/>
            </a:avLst>
          </a:prstGeom>
          <a:solidFill>
            <a:srgbClr val="2980D4"/>
          </a:solidFill>
          <a:ln w="1270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105656" y="2359152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361688" y="2029968"/>
            <a:ext cx="1737360" cy="987552"/>
          </a:xfrm>
          <a:prstGeom prst="roundRect">
            <a:avLst>
              <a:gd name="adj" fmla="val 9259"/>
            </a:avLst>
          </a:prstGeom>
          <a:solidFill>
            <a:srgbClr val="156FB5"/>
          </a:solidFill>
          <a:ln w="12700">
            <a:solidFill>
              <a:srgbClr val="156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21945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10328" y="2103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910328" y="2414016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evals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org traces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8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smarter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01752" y="3145536"/>
            <a:ext cx="5797296" cy="329184"/>
          </a:xfrm>
          <a:prstGeom prst="roundRect">
            <a:avLst>
              <a:gd name="adj" fmla="val 22222"/>
            </a:avLst>
          </a:prstGeom>
          <a:solidFill>
            <a:srgbClr val="E8F3FC"/>
          </a:solidFill>
          <a:ln w="19050">
            <a:solidFill>
              <a:srgbClr val="298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11480" y="31455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35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Each cycle compounds your institutional knowledge — independent of any model vendor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035040" y="1975104"/>
            <a:ext cx="29260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210312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83680" y="206654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sovereignty test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181344" y="24323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swap out the underlying model without losing your accumulated expertise?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you're renting your AI capability — not owning it.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035040" y="3602736"/>
            <a:ext cx="29260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3730752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83680" y="369417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question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181344" y="4059936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GPT-5 or Claude is not your strategy.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loop that compounds your institutional knowledge on top of any model — that is your strategy.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BUILDING IT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watch. We built.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last two slides was someone else's company. Everything below is ours — built by the teams in this room.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977640" cy="1152144"/>
          </a:xfrm>
          <a:prstGeom prst="roundRect">
            <a:avLst>
              <a:gd name="adj" fmla="val 634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3736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700784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in our client platform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3504" y="2084832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for corporate clients — live in production. PII orthogonal to the model, entitlement-aware, fully auditable by design.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617720" y="1627632"/>
            <a:ext cx="3977640" cy="1152144"/>
          </a:xfrm>
          <a:prstGeom prst="roundRect">
            <a:avLst>
              <a:gd name="adj" fmla="val 634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73736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4648" y="1700784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GenAI-assisted engineering at scale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64024" y="2084832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30–35% coding efficiency across the workforce — adopted, measured, real. Confirmed publicly by our CEO.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457200" y="2871216"/>
            <a:ext cx="3977640" cy="1152144"/>
          </a:xfrm>
          <a:prstGeom prst="roundRect">
            <a:avLst>
              <a:gd name="adj" fmla="val 634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98094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294436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data intelligence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03504" y="3328416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extraction and analysis across onboarding, servicing and operations.</a:t>
            </a:r>
            <a:endParaRPr lang="en-US" sz="880" dirty="0"/>
          </a:p>
        </p:txBody>
      </p:sp>
      <p:sp>
        <p:nvSpPr>
          <p:cNvPr id="18" name="Shape 13"/>
          <p:cNvSpPr/>
          <p:nvPr/>
        </p:nvSpPr>
        <p:spPr>
          <a:xfrm>
            <a:off x="4617720" y="2871216"/>
            <a:ext cx="3977640" cy="1152144"/>
          </a:xfrm>
          <a:prstGeom prst="roundRect">
            <a:avLst>
              <a:gd name="adj" fmla="val 634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2980944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84648" y="294436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quality engineering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764024" y="3328416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harnesses simulating realistic user behaviour — persona-driven synthetic user simulation at scale.</a:t>
            </a:r>
            <a:endParaRPr lang="en-US" sz="880" dirty="0"/>
          </a:p>
        </p:txBody>
      </p:sp>
      <p:sp>
        <p:nvSpPr>
          <p:cNvPr id="22" name="Shape 16"/>
          <p:cNvSpPr/>
          <p:nvPr/>
        </p:nvSpPr>
        <p:spPr>
          <a:xfrm>
            <a:off x="457200" y="4114800"/>
            <a:ext cx="3977640" cy="1152144"/>
          </a:xfrm>
          <a:prstGeom prst="roundRect">
            <a:avLst>
              <a:gd name="adj" fmla="val 634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422452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4128" y="4187952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architecture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03504" y="4572000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MCP endpoint: human-facing assistant + governed endpoint for third-party agents. PII out of the model.</a:t>
            </a:r>
            <a:endParaRPr lang="en-US" sz="880" dirty="0"/>
          </a:p>
        </p:txBody>
      </p:sp>
      <p:sp>
        <p:nvSpPr>
          <p:cNvPr id="26" name="Shape 19"/>
          <p:cNvSpPr/>
          <p:nvPr/>
        </p:nvSpPr>
        <p:spPr>
          <a:xfrm>
            <a:off x="4617720" y="4114800"/>
            <a:ext cx="3977640" cy="1152144"/>
          </a:xfrm>
          <a:prstGeom prst="roundRect">
            <a:avLst>
              <a:gd name="adj" fmla="val 634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024" y="4224528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84648" y="4187952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culture shipping AI weekly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764024" y="4572000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governed production — the capability the live demos will now show you.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463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1355A0"/>
          </a:solidFill>
          <a:ln w="12700">
            <a:solidFill>
              <a:srgbClr val="135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903720" y="1463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BUILDING IT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pace is accelerating — and we're part of 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horizon: how long an AI can reliably work alone — doubling every 4 months (METR, independently verified)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901952" cy="804672"/>
          </a:xfrm>
          <a:prstGeom prst="roundRect">
            <a:avLst>
              <a:gd name="adj" fmla="val 79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68296" y="1664208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5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41448" y="1536192"/>
            <a:ext cx="1901952" cy="804672"/>
          </a:xfrm>
          <a:prstGeom prst="roundRect">
            <a:avLst>
              <a:gd name="adj" fmla="val 79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41448" y="15819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41448" y="197510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41448" y="215798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3.7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52544" y="1664208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5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25696" y="1536192"/>
            <a:ext cx="1901952" cy="804672"/>
          </a:xfrm>
          <a:prstGeom prst="roundRect">
            <a:avLst>
              <a:gd name="adj" fmla="val 79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25696" y="15819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hrs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25696" y="197510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25696" y="215798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36792" y="1664208"/>
            <a:ext cx="146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5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9944" y="1536192"/>
            <a:ext cx="1901952" cy="804672"/>
          </a:xfrm>
          <a:prstGeom prst="roundRect">
            <a:avLst>
              <a:gd name="adj" fmla="val 7955"/>
            </a:avLst>
          </a:prstGeom>
          <a:solidFill>
            <a:srgbClr val="EEF4FA"/>
          </a:solidFill>
          <a:ln w="12700">
            <a:solidFill>
              <a:srgbClr val="C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9944" y="15819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9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9944" y="197510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9944" y="215798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542032"/>
            <a:ext cx="263347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259689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94360" y="310896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Anthropic's code authored by Claude (May 2026)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45643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low single digits before Claude Code launched. Engineers merging 8× more code per day. (Anthropic flags this overstates true productivity; direction is clear.)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55264" y="2542032"/>
            <a:ext cx="263347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92424" y="259689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3392424" y="310896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on open-ended software tasks (May 2026)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92424" y="345643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50 percentage points in six months. A routine upgrade crashing thousands of jobs: Claude isolated the issue and delivered 2–3 days of work in 2 hours.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53328" y="2542032"/>
            <a:ext cx="263347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8DDF2"/>
            </a:solidFill>
            <a:prstDash val="solid"/>
          </a:ln>
          <a:effectLst>
            <a:outerShdw blurRad="635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90488" y="259689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98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190488" y="310896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4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time Claude picks a better step than a skilled researcher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90488" y="345643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research decisions where the human's choice had room for improvement — up from 51% in Nov 2025.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A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·  THE CLOSE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931920" cy="1792224"/>
          </a:xfrm>
          <a:prstGeom prst="roundRect">
            <a:avLst>
              <a:gd name="adj" fmla="val 5102"/>
            </a:avLst>
          </a:prstGeom>
          <a:solidFill>
            <a:srgbClr val="122D52"/>
          </a:solidFill>
          <a:ln w="12700">
            <a:solidFill>
              <a:srgbClr val="1A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GCC leaders say their centres now contribute far beyond cost arbitrage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713232"/>
            <a:ext cx="3931920" cy="1792224"/>
          </a:xfrm>
          <a:prstGeom prst="roundRect">
            <a:avLst>
              <a:gd name="adj" fmla="val 5102"/>
            </a:avLst>
          </a:prstGeom>
          <a:solidFill>
            <a:srgbClr val="122D52"/>
          </a:solidFill>
          <a:ln w="12700">
            <a:solidFill>
              <a:srgbClr val="1A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8046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 GCCs already investing in agentic AI — 29% more planning it within a year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GCC Pulse Survey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8046720" cy="22860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the back office of this transformation.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the build.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42245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teams in this room are not choosing between models. They are building the learning infrastructure that will compound long after any individual model is obsolete. That is a career-defining place to be standing in 2026.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A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— can a bank do this,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773936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safely, at scale?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474720" y="2724912"/>
            <a:ext cx="2194560" cy="25603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871216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AA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show you.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Introduce demo presenters by name — hand off at peak energy, within 10 seconds ]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2449</Words>
  <Application>Microsoft Macintosh PowerPoint</Application>
  <PresentationFormat>On-screen Show (16:9)</PresentationFormat>
  <Paragraphs>258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Sudhindra Balaji</cp:lastModifiedBy>
  <cp:revision>3</cp:revision>
  <dcterms:created xsi:type="dcterms:W3CDTF">2026-06-17T05:39:42Z</dcterms:created>
  <dcterms:modified xsi:type="dcterms:W3CDTF">2026-06-17T06:28:21Z</dcterms:modified>
</cp:coreProperties>
</file>